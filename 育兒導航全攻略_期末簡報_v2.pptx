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3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4" name="Text 2"/>
          <p:cNvSpPr/>
          <p:nvPr/>
        </p:nvSpPr>
        <p:spPr>
          <a:xfrm>
            <a:off x="6309360" y="73152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</a:rPr>
              <a:t>🍼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645920" cy="320040"/>
          </a:xfrm>
          <a:prstGeom prst="rect">
            <a:avLst/>
          </a:prstGeom>
          <a:solidFill>
            <a:srgbClr val="DFB19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02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32"/>
                </a:solidFill>
              </a:rPr>
              <a:t>工研院 期末專題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育兒導航全攻略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AC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基於 RAG 與時序提醒之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BAC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新手爸媽智慧應援 Agent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1572768" cy="292608"/>
          </a:xfrm>
          <a:prstGeom prst="rect">
            <a:avLst/>
          </a:prstGeom>
          <a:solidFill>
            <a:srgbClr val="6E989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56616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RAG 向量知識庫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94560" y="3566160"/>
            <a:ext cx="1572768" cy="292608"/>
          </a:xfrm>
          <a:prstGeom prst="rect">
            <a:avLst/>
          </a:prstGeom>
          <a:solidFill>
            <a:srgbClr val="6E9896"/>
          </a:solidFill>
          <a:ln/>
        </p:spPr>
      </p:sp>
      <p:sp>
        <p:nvSpPr>
          <p:cNvPr id="12" name="Text 10"/>
          <p:cNvSpPr/>
          <p:nvPr/>
        </p:nvSpPr>
        <p:spPr>
          <a:xfrm>
            <a:off x="2194560" y="356616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 對話狀態機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31920" y="3566160"/>
            <a:ext cx="1572768" cy="292608"/>
          </a:xfrm>
          <a:prstGeom prst="rect">
            <a:avLst/>
          </a:prstGeom>
          <a:solidFill>
            <a:srgbClr val="6E9896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0" y="356616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LINE Bot 推播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1572768" cy="292608"/>
          </a:xfrm>
          <a:prstGeom prst="rect">
            <a:avLst/>
          </a:prstGeom>
          <a:solidFill>
            <a:srgbClr val="6E989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97764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自動爬蟲更新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194560" y="3977640"/>
            <a:ext cx="1572768" cy="292608"/>
          </a:xfrm>
          <a:prstGeom prst="rect">
            <a:avLst/>
          </a:prstGeom>
          <a:solidFill>
            <a:srgbClr val="6E9896"/>
          </a:solidFill>
          <a:ln/>
        </p:spPr>
      </p:sp>
      <p:sp>
        <p:nvSpPr>
          <p:cNvPr id="18" name="Text 16"/>
          <p:cNvSpPr/>
          <p:nvPr/>
        </p:nvSpPr>
        <p:spPr>
          <a:xfrm>
            <a:off x="2194560" y="397764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社群論壇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31920" y="3977640"/>
            <a:ext cx="1572768" cy="292608"/>
          </a:xfrm>
          <a:prstGeom prst="rect">
            <a:avLst/>
          </a:prstGeom>
          <a:solidFill>
            <a:srgbClr val="6E9896"/>
          </a:solidFill>
          <a:ln/>
        </p:spPr>
      </p:sp>
      <p:sp>
        <p:nvSpPr>
          <p:cNvPr id="20" name="Text 18"/>
          <p:cNvSpPr/>
          <p:nvPr/>
        </p:nvSpPr>
        <p:spPr>
          <a:xfrm>
            <a:off x="3931920" y="397764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Docker 部署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5029200" cy="0"/>
          </a:xfrm>
          <a:prstGeom prst="line">
            <a:avLst/>
          </a:prstGeom>
          <a:noFill/>
          <a:ln w="12700">
            <a:solidFill>
              <a:srgbClr val="99B6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663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9896"/>
                </a:solidFill>
              </a:rPr>
              <a:t>2026 年度 · AI 應用實務課程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434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B6B4"/>
                </a:solidFill>
              </a:rPr>
              <a:t>問題背景 — 新手爸媽的困境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73152"/>
          </a:xfrm>
          <a:prstGeom prst="rect">
            <a:avLst/>
          </a:prstGeom>
          <a:solidFill>
            <a:srgbClr val="D4898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😵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11480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2C"/>
                </a:solidFill>
              </a:rPr>
              <a:t>資訊散落各部會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1828800" cy="0"/>
          </a:xfrm>
          <a:prstGeom prst="line">
            <a:avLst/>
          </a:prstGeom>
          <a:noFill/>
          <a:ln w="12700">
            <a:solidFill>
              <a:srgbClr val="BACF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42316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衛福部、教育部、勞動部各自為政，補助資訊難以整合查詢，父母需跨多個官網才能拼湊完整資訊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822960"/>
            <a:ext cx="27432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822960"/>
            <a:ext cx="2743200" cy="73152"/>
          </a:xfrm>
          <a:prstGeom prst="rect">
            <a:avLst/>
          </a:prstGeom>
          <a:solidFill>
            <a:srgbClr val="D48982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914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⏰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337560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2C"/>
                </a:solidFill>
              </a:rPr>
              <a:t>時效性錯過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0" y="2331720"/>
            <a:ext cx="1828800" cy="0"/>
          </a:xfrm>
          <a:prstGeom prst="line">
            <a:avLst/>
          </a:prstGeom>
          <a:noFill/>
          <a:ln w="12700">
            <a:solidFill>
              <a:srgbClr val="BACF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42316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疫苗接種、補助申辦有嚴格時間限制，新手爸媽常因不知道截止日而白白錯過政府津貼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822960"/>
            <a:ext cx="27432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822960"/>
            <a:ext cx="2743200" cy="73152"/>
          </a:xfrm>
          <a:prstGeom prst="rect">
            <a:avLst/>
          </a:prstGeom>
          <a:solidFill>
            <a:srgbClr val="D48982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914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🗂️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263640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2C"/>
                </a:solidFill>
              </a:rPr>
              <a:t>縣市差異大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83680" y="2331720"/>
            <a:ext cx="1828800" cy="0"/>
          </a:xfrm>
          <a:prstGeom prst="line">
            <a:avLst/>
          </a:prstGeom>
          <a:noFill/>
          <a:ln w="12700">
            <a:solidFill>
              <a:srgbClr val="BACF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242316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各縣市補助金額與資格各異，全國性查詢結果與實際戶籍縣市不符，造成錯誤期待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3931920"/>
            <a:ext cx="9144000" cy="914400"/>
          </a:xfrm>
          <a:prstGeom prst="rect">
            <a:avLst/>
          </a:prstGeom>
          <a:solidFill>
            <a:srgbClr val="243432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39502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FB199"/>
                </a:solidFill>
              </a:rPr>
              <a:t>26+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097280" y="4407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ACFCE"/>
                </a:solidFill>
              </a:rPr>
              <a:t>個政府資料來源整合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0" y="39502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FB199"/>
                </a:solidFill>
              </a:rPr>
              <a:t>6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840480" y="4407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ACFCE"/>
                </a:solidFill>
              </a:rPr>
              <a:t>大縣市深度客製化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39502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FB199"/>
                </a:solidFill>
              </a:rPr>
              <a:t>零等待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583680" y="4407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ACFCE"/>
                </a:solidFill>
              </a:rPr>
              <a:t>主動推播 vs. 被動查詢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434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B6B4"/>
                </a:solidFill>
              </a:rPr>
              <a:t>解決方案 — 三大核心模組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743200" cy="54864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914400"/>
            <a:ext cx="914400" cy="914400"/>
          </a:xfrm>
          <a:prstGeom prst="ellipse">
            <a:avLst/>
          </a:prstGeom>
          <a:solidFill>
            <a:srgbClr val="99B6B4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E2C"/>
                </a:solidFill>
              </a:rPr>
              <a:t>智慧 RAG 問答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2011680" cy="0"/>
          </a:xfrm>
          <a:prstGeom prst="line">
            <a:avLst/>
          </a:prstGeom>
          <a:noFill/>
          <a:ln w="9525">
            <a:solidFill>
              <a:srgbClr val="BACF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14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B6B4"/>
                </a:solidFill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26 份 Wiki 知識庫（政府官方資料）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9169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B6B4"/>
                </a:solidFill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ChromaDB 向量語意搜尋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3192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B6B4"/>
                </a:solidFill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縣市 Metadata 精準過濾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7216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B6B4"/>
                </a:solidFill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Context Enrichment 個人化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1239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B6B4"/>
                </a:solidFill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GPT-4o-mini 自然語言生成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777240"/>
            <a:ext cx="2743200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777240"/>
            <a:ext cx="2743200" cy="54864"/>
          </a:xfrm>
          <a:prstGeom prst="rect">
            <a:avLst/>
          </a:prstGeom>
          <a:solidFill>
            <a:srgbClr val="DFB199"/>
          </a:solidFill>
          <a:ln/>
        </p:spPr>
      </p:sp>
      <p:sp>
        <p:nvSpPr>
          <p:cNvPr id="17" name="Shape 15"/>
          <p:cNvSpPr/>
          <p:nvPr/>
        </p:nvSpPr>
        <p:spPr>
          <a:xfrm>
            <a:off x="4114800" y="914400"/>
            <a:ext cx="914400" cy="914400"/>
          </a:xfrm>
          <a:prstGeom prst="ellipse">
            <a:avLst/>
          </a:prstGeom>
          <a:solidFill>
            <a:srgbClr val="DFB199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⏰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291840" y="1965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E2C"/>
                </a:solidFill>
              </a:rPr>
              <a:t>主動時序提醒 Agent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566160" y="2423160"/>
            <a:ext cx="2011680" cy="0"/>
          </a:xfrm>
          <a:prstGeom prst="line">
            <a:avLst/>
          </a:prstGeom>
          <a:noFill/>
          <a:ln w="9525">
            <a:solidFill>
              <a:srgbClr val="BACF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2514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B199"/>
                </a:solidFill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對話狀態機蒐集寶寶資料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29169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B199"/>
                </a:solidFill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自動計算疫苗 / 補助時程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33192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B199"/>
                </a:solidFill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APScheduler 每日 09:00 掃描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0" y="37216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B199"/>
                </a:solidFill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LINE Flex Message 推播通知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83280" y="41239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B199"/>
                </a:solidFill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MySQL 里程碑記錄 + 追蹤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777240"/>
            <a:ext cx="2743200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777240"/>
            <a:ext cx="2743200" cy="54864"/>
          </a:xfrm>
          <a:prstGeom prst="rect">
            <a:avLst/>
          </a:prstGeom>
          <a:solidFill>
            <a:srgbClr val="D48982"/>
          </a:solidFill>
          <a:ln/>
        </p:spPr>
      </p:sp>
      <p:sp>
        <p:nvSpPr>
          <p:cNvPr id="28" name="Shape 26"/>
          <p:cNvSpPr/>
          <p:nvPr/>
        </p:nvSpPr>
        <p:spPr>
          <a:xfrm>
            <a:off x="7040880" y="914400"/>
            <a:ext cx="914400" cy="914400"/>
          </a:xfrm>
          <a:prstGeom prst="ellipse">
            <a:avLst/>
          </a:prstGeom>
          <a:solidFill>
            <a:srgbClr val="D48982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💬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6217920" y="1965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E2C"/>
                </a:solidFill>
              </a:rPr>
              <a:t>社群論壇平台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492240" y="2423160"/>
            <a:ext cx="2011680" cy="0"/>
          </a:xfrm>
          <a:prstGeom prst="line">
            <a:avLst/>
          </a:prstGeom>
          <a:noFill/>
          <a:ln w="9525">
            <a:solidFill>
              <a:srgbClr val="BACFC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2514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982"/>
                </a:solidFill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5 大板塊分類（Dcard 風格）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09360" y="29169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982"/>
                </a:solidFill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帳號系統 + bcrypt 安全登入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09360" y="33192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982"/>
                </a:solidFill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匿名發文 / 巢狀留言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09360" y="37216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982"/>
                </a:solidFill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按讚排行 + 熱門演算法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09360" y="41239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982"/>
                </a:solidFill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REST API 與前端整合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3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B6B4"/>
                </a:solidFill>
              </a:rPr>
              <a:t>系統架構總覽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0"/>
          </a:xfrm>
          <a:prstGeom prst="line">
            <a:avLst/>
          </a:prstGeom>
          <a:noFill/>
          <a:ln w="12700">
            <a:solidFill>
              <a:srgbClr val="99B6B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914400"/>
            <a:ext cx="1920240" cy="685800"/>
          </a:xfrm>
          <a:prstGeom prst="rect">
            <a:avLst/>
          </a:prstGeom>
          <a:solidFill>
            <a:srgbClr val="6E9896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9144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👩 使用者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LINE / 網頁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48840" y="10972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FB199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60320" y="804672"/>
            <a:ext cx="4023360" cy="914400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8" name="Shape 6"/>
          <p:cNvSpPr/>
          <p:nvPr/>
        </p:nvSpPr>
        <p:spPr>
          <a:xfrm>
            <a:off x="2560320" y="804672"/>
            <a:ext cx="4023360" cy="54864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859536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B6B4"/>
                </a:solidFill>
              </a:rPr>
              <a:t>Flask Backend  ·  LINE Webhook  ·  REST /chat API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2880" y="1965960"/>
            <a:ext cx="2011680" cy="713232"/>
          </a:xfrm>
          <a:prstGeom prst="rect">
            <a:avLst/>
          </a:prstGeom>
          <a:solidFill>
            <a:srgbClr val="6E9896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" y="196596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conversation.py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對話狀態機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95728" y="1965960"/>
            <a:ext cx="2011680" cy="713232"/>
          </a:xfrm>
          <a:prstGeom prst="rect">
            <a:avLst/>
          </a:prstGeom>
          <a:solidFill>
            <a:srgbClr val="B8795A"/>
          </a:solidFill>
          <a:ln/>
        </p:spPr>
      </p:sp>
      <p:sp>
        <p:nvSpPr>
          <p:cNvPr id="13" name="Text 11"/>
          <p:cNvSpPr/>
          <p:nvPr/>
        </p:nvSpPr>
        <p:spPr>
          <a:xfrm>
            <a:off x="2395728" y="196596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rag_engine.py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RAG 問答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08576" y="1965960"/>
            <a:ext cx="2011680" cy="713232"/>
          </a:xfrm>
          <a:prstGeom prst="rect">
            <a:avLst/>
          </a:prstGeom>
          <a:solidFill>
            <a:srgbClr val="C07070"/>
          </a:solidFill>
          <a:ln/>
        </p:spPr>
      </p:sp>
      <p:sp>
        <p:nvSpPr>
          <p:cNvPr id="15" name="Text 13"/>
          <p:cNvSpPr/>
          <p:nvPr/>
        </p:nvSpPr>
        <p:spPr>
          <a:xfrm>
            <a:off x="4608576" y="196596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scheduler.py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推播排程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21424" y="1965960"/>
            <a:ext cx="2011680" cy="713232"/>
          </a:xfrm>
          <a:prstGeom prst="rect">
            <a:avLst/>
          </a:prstGeom>
          <a:solidFill>
            <a:srgbClr val="6E9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821424" y="196596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forum.py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論壇 API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0" y="2788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B6B4"/>
                </a:solidFill>
              </a:rPr>
              <a:t>▼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2560320" cy="960120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54680"/>
            <a:ext cx="2560320" cy="64008"/>
          </a:xfrm>
          <a:prstGeom prst="rect">
            <a:avLst/>
          </a:prstGeom>
          <a:solidFill>
            <a:srgbClr val="DFB199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218688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ACFCE"/>
                </a:solidFill>
              </a:rPr>
              <a:t>MySQL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ACFCE"/>
                </a:solidFill>
              </a:rPr>
              <a:t>users / children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ACFCE"/>
                </a:solidFill>
              </a:rPr>
              <a:t>milestones / forum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91840" y="3154680"/>
            <a:ext cx="2560320" cy="960120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23" name="Shape 21"/>
          <p:cNvSpPr/>
          <p:nvPr/>
        </p:nvSpPr>
        <p:spPr>
          <a:xfrm>
            <a:off x="3291840" y="3154680"/>
            <a:ext cx="2560320" cy="64008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24" name="Text 22"/>
          <p:cNvSpPr/>
          <p:nvPr/>
        </p:nvSpPr>
        <p:spPr>
          <a:xfrm>
            <a:off x="3337560" y="3218688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ACFCE"/>
                </a:solidFill>
              </a:rPr>
              <a:t>ChromaDB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ACFCE"/>
                </a:solidFill>
              </a:rPr>
              <a:t>向量知識庫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ACFCE"/>
                </a:solidFill>
              </a:rPr>
              <a:t>26 個 Wiki 檔案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3154680"/>
            <a:ext cx="2560320" cy="960120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26" name="Shape 24"/>
          <p:cNvSpPr/>
          <p:nvPr/>
        </p:nvSpPr>
        <p:spPr>
          <a:xfrm>
            <a:off x="6126480" y="3154680"/>
            <a:ext cx="2560320" cy="64008"/>
          </a:xfrm>
          <a:prstGeom prst="rect">
            <a:avLst/>
          </a:prstGeom>
          <a:solidFill>
            <a:srgbClr val="6E9896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3218688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ACFCE"/>
                </a:solidFill>
              </a:rPr>
              <a:t>OpenAI 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ACFCE"/>
                </a:solidFill>
              </a:rPr>
              <a:t>GPT-4o-mini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ACFCE"/>
                </a:solidFill>
              </a:rPr>
              <a:t>text-embedding-3-small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0" y="1371600"/>
            <a:ext cx="2011680" cy="1280160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29" name="Shape 27"/>
          <p:cNvSpPr/>
          <p:nvPr/>
        </p:nvSpPr>
        <p:spPr>
          <a:xfrm>
            <a:off x="6858000" y="1371600"/>
            <a:ext cx="2011680" cy="64008"/>
          </a:xfrm>
          <a:prstGeom prst="rect">
            <a:avLst/>
          </a:prstGeom>
          <a:solidFill>
            <a:srgbClr val="D48982"/>
          </a:solidFill>
          <a:ln/>
        </p:spPr>
      </p:sp>
      <p:sp>
        <p:nvSpPr>
          <p:cNvPr id="30" name="Text 28"/>
          <p:cNvSpPr/>
          <p:nvPr/>
        </p:nvSpPr>
        <p:spPr>
          <a:xfrm>
            <a:off x="6903720" y="1435608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FB199"/>
                </a:solidFill>
              </a:rPr>
              <a:t>🕷️ 自動爬蟲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FB199"/>
                </a:solidFill>
              </a:rPr>
              <a:t>crawler.py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FB199"/>
                </a:solidFill>
              </a:rPr>
              <a:t>每週一 02:00 更新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6948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8982"/>
                </a:solidFill>
              </a:rPr>
              <a:t>↓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43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FB199"/>
                </a:solidFill>
              </a:rPr>
              <a:t>我們在 LLM 之外做了什麼？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0"/>
          </a:xfrm>
          <a:prstGeom prst="line">
            <a:avLst/>
          </a:prstGeom>
          <a:noFill/>
          <a:ln w="12700">
            <a:solidFill>
              <a:srgbClr val="DFB1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22960"/>
            <a:ext cx="3840480" cy="502920"/>
          </a:xfrm>
          <a:prstGeom prst="rect">
            <a:avLst/>
          </a:prstGeom>
          <a:solidFill>
            <a:srgbClr val="C0707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229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❌  純 ChatGPT / 直接呼叫 LLM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0" y="822960"/>
            <a:ext cx="3840480" cy="502920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8229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432"/>
                </a:solidFill>
              </a:rPr>
              <a:t>✅  我們的 Agent 系統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481328"/>
            <a:ext cx="3840480" cy="566928"/>
          </a:xfrm>
          <a:prstGeom prst="rect">
            <a:avLst/>
          </a:prstGeom>
          <a:solidFill>
            <a:srgbClr val="2A1515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48132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4E3"/>
                </a:solidFill>
              </a:rPr>
              <a:t>資料憑空捏造，無法驗證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1481328"/>
            <a:ext cx="3840480" cy="566928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48132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CFCE"/>
                </a:solidFill>
              </a:rPr>
              <a:t>RAG 知識庫：所有回答有政府文件根據，附來源標籤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60520" y="16002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FB199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74320" y="2167128"/>
            <a:ext cx="3840480" cy="566928"/>
          </a:xfrm>
          <a:prstGeom prst="rect">
            <a:avLst/>
          </a:prstGeom>
          <a:solidFill>
            <a:srgbClr val="2A1515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16712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4E3"/>
                </a:solidFill>
              </a:rPr>
              <a:t>不知道使用者是誰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2167128"/>
            <a:ext cx="3840480" cy="566928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216712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CFCE"/>
                </a:solidFill>
              </a:rPr>
              <a:t>Context Enrichment：自動拉取戶籍縣市 + 寶寶年齡個人化回覆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60520" y="22860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FB199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74320" y="2852928"/>
            <a:ext cx="3840480" cy="566928"/>
          </a:xfrm>
          <a:prstGeom prst="rect">
            <a:avLst/>
          </a:prstGeom>
          <a:solidFill>
            <a:srgbClr val="2A1515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85292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4E3"/>
                </a:solidFill>
              </a:rPr>
              <a:t>只能被動回答問題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2852928"/>
            <a:ext cx="3840480" cy="566928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285292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CFCE"/>
                </a:solidFill>
              </a:rPr>
              <a:t>對話狀態機（6 步驟）主動引導用戶完成資料建檔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60520" y="29718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FB199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274320" y="3538728"/>
            <a:ext cx="3840480" cy="566928"/>
          </a:xfrm>
          <a:prstGeom prst="rect">
            <a:avLst/>
          </a:prstGeom>
          <a:solidFill>
            <a:srgbClr val="2A1515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53872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4E3"/>
                </a:solidFill>
              </a:rPr>
              <a:t>資料永遠是訓練截止日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0" y="3538728"/>
            <a:ext cx="3840480" cy="566928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353872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CFCE"/>
                </a:solidFill>
              </a:rPr>
              <a:t>爬蟲每週自動爬 5 個政府網站，知識庫持續即時更新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60520" y="36576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FB199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274320" y="4224528"/>
            <a:ext cx="3840480" cy="566928"/>
          </a:xfrm>
          <a:prstGeom prst="rect">
            <a:avLst/>
          </a:prstGeom>
          <a:solidFill>
            <a:srgbClr val="2A1515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22452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4E3"/>
                </a:solidFill>
              </a:rPr>
              <a:t>使用者必須自己記住時程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0" y="4224528"/>
            <a:ext cx="3840480" cy="566928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0" y="422452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CFCE"/>
                </a:solidFill>
              </a:rPr>
              <a:t>APScheduler 每日主動推播疫苗、補助到期提醒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160520" y="43434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FB199"/>
                </a:solidFill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434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B6B4"/>
                </a:solidFill>
              </a:rPr>
              <a:t>Phase A — Wiki 知識庫建立方法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2C"/>
                </a:solidFill>
              </a:rPr>
              <a:t>資料建立流程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" cy="411480"/>
          </a:xfrm>
          <a:prstGeom prst="ellipse">
            <a:avLst/>
          </a:prstGeom>
          <a:solidFill>
            <a:srgbClr val="99B6B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0" cy="484632"/>
          </a:xfrm>
          <a:prstGeom prst="line">
            <a:avLst/>
          </a:prstGeom>
          <a:noFill/>
          <a:ln w="19050">
            <a:solidFill>
              <a:srgbClr val="BACF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1615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2C"/>
                </a:solidFill>
              </a:rPr>
              <a:t>爬取政府官網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2C"/>
                </a:solidFill>
              </a:rPr>
              <a:t>born.taipei / 衛福部 / 國健署 / 勞動部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30552"/>
            <a:ext cx="411480" cy="411480"/>
          </a:xfrm>
          <a:prstGeom prst="ellipse">
            <a:avLst/>
          </a:prstGeom>
          <a:solidFill>
            <a:srgbClr val="99B6B4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130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542032"/>
            <a:ext cx="0" cy="484632"/>
          </a:xfrm>
          <a:prstGeom prst="line">
            <a:avLst/>
          </a:prstGeom>
          <a:noFill/>
          <a:ln w="19050">
            <a:solidFill>
              <a:srgbClr val="BACF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11226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2C"/>
                </a:solidFill>
              </a:rPr>
              <a:t>結構化整理 Markdown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2C"/>
                </a:solidFill>
              </a:rPr>
              <a:t>YAML Frontmatter：tags、適用縣市、時序規則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026664"/>
            <a:ext cx="411480" cy="411480"/>
          </a:xfrm>
          <a:prstGeom prst="ellipse">
            <a:avLst/>
          </a:prstGeom>
          <a:solidFill>
            <a:srgbClr val="99B6B4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026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3438144"/>
            <a:ext cx="0" cy="484632"/>
          </a:xfrm>
          <a:prstGeom prst="line">
            <a:avLst/>
          </a:prstGeom>
          <a:noFill/>
          <a:ln w="19050">
            <a:solidFill>
              <a:srgbClr val="BACF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00837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2C"/>
                </a:solidFill>
              </a:rPr>
              <a:t>PDF 自動解析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2C"/>
                </a:solidFill>
              </a:rPr>
              <a:t>pdfplumber 提取文字，按縣市命名規則分類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922776"/>
            <a:ext cx="411480" cy="411480"/>
          </a:xfrm>
          <a:prstGeom prst="ellipse">
            <a:avLst/>
          </a:prstGeom>
          <a:solidFill>
            <a:srgbClr val="99B6B4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9227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90448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2C"/>
                </a:solidFill>
              </a:rPr>
              <a:t>切塊向量化入庫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2C"/>
                </a:solidFill>
              </a:rPr>
              <a:t>500 字 Chunk → OpenAI Embedding → ChromaDB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777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2C"/>
                </a:solidFill>
              </a:rPr>
              <a:t>知識庫內容分類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63440" y="123444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234440"/>
            <a:ext cx="54864" cy="594360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1252728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C"/>
                </a:solidFill>
              </a:rPr>
              <a:t>全國通用補助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23760" y="1252728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9B6B4"/>
                </a:solidFill>
              </a:rPr>
              <a:t>12 份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663440" y="196596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965960"/>
            <a:ext cx="54864" cy="594360"/>
          </a:xfrm>
          <a:prstGeom prst="rect">
            <a:avLst/>
          </a:prstGeom>
          <a:solidFill>
            <a:srgbClr val="DFB199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1984248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C"/>
                </a:solidFill>
              </a:rPr>
              <a:t>台北市專屬資源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223760" y="1984248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FB199"/>
                </a:solidFill>
              </a:rPr>
              <a:t>8 份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663440" y="269748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697480"/>
            <a:ext cx="54864" cy="594360"/>
          </a:xfrm>
          <a:prstGeom prst="rect">
            <a:avLst/>
          </a:prstGeom>
          <a:solidFill>
            <a:srgbClr val="D48982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2715768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C"/>
                </a:solidFill>
              </a:rPr>
              <a:t>孕期 / 新生兒指南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223760" y="2715768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48982"/>
                </a:solidFill>
              </a:rPr>
              <a:t>3 份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663440" y="342900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3429000"/>
            <a:ext cx="54864" cy="594360"/>
          </a:xfrm>
          <a:prstGeom prst="rect">
            <a:avLst/>
          </a:prstGeom>
          <a:solidFill>
            <a:srgbClr val="6E9896"/>
          </a:solidFill>
          <a:ln/>
        </p:spPr>
      </p:sp>
      <p:sp>
        <p:nvSpPr>
          <p:cNvPr id="35" name="Text 33"/>
          <p:cNvSpPr/>
          <p:nvPr/>
        </p:nvSpPr>
        <p:spPr>
          <a:xfrm>
            <a:off x="4800600" y="3447288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C"/>
                </a:solidFill>
              </a:rPr>
              <a:t>托育 / 特教 QA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223760" y="3447288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E9896"/>
                </a:solidFill>
              </a:rPr>
              <a:t>3 份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663440" y="4206240"/>
            <a:ext cx="4114800" cy="685800"/>
          </a:xfrm>
          <a:prstGeom prst="rect">
            <a:avLst/>
          </a:prstGeom>
          <a:solidFill>
            <a:srgbClr val="243432"/>
          </a:solidFill>
          <a:ln/>
        </p:spPr>
      </p:sp>
      <p:sp>
        <p:nvSpPr>
          <p:cNvPr id="38" name="Text 36"/>
          <p:cNvSpPr/>
          <p:nvPr/>
        </p:nvSpPr>
        <p:spPr>
          <a:xfrm>
            <a:off x="4800600" y="423367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ACFCE"/>
                </a:solidFill>
              </a:rPr>
              <a:t>每份 .md 的 YAML Frontmatter 同時驅動 APScheduler：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ACFCE"/>
                </a:solidFill>
              </a:rPr>
              <a:t>tags · 適用縣市 · 時序規則 → 自動產生推播里程碑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43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B6B4"/>
                </a:solidFill>
              </a:rPr>
              <a:t>RAG 問答引擎 — 設計方法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0"/>
          </a:xfrm>
          <a:prstGeom prst="line">
            <a:avLst/>
          </a:prstGeom>
          <a:noFill/>
          <a:ln w="12700">
            <a:solidFill>
              <a:srgbClr val="99B6B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1234440" cy="1371600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14400"/>
            <a:ext cx="1234440" cy="54864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📄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62763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Wiki .md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+ PDF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15798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FB199"/>
                </a:solidFill>
              </a:rPr>
              <a:t>知識庫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14173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FB199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737360" y="914400"/>
            <a:ext cx="1234440" cy="1371600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11" name="Shape 9"/>
          <p:cNvSpPr/>
          <p:nvPr/>
        </p:nvSpPr>
        <p:spPr>
          <a:xfrm>
            <a:off x="1737360" y="914400"/>
            <a:ext cx="1234440" cy="54864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12" name="Text 10"/>
          <p:cNvSpPr/>
          <p:nvPr/>
        </p:nvSpPr>
        <p:spPr>
          <a:xfrm>
            <a:off x="1737360" y="9601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✂️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783080" y="162763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切塊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Chunking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83080" y="215798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FB199"/>
                </a:solidFill>
              </a:rPr>
              <a:t>500 字/塊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26080" y="14173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FB199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00400" y="914400"/>
            <a:ext cx="1234440" cy="1371600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0" y="914400"/>
            <a:ext cx="1234440" cy="54864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0" y="9601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🔢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246120" y="162763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向量化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Embedding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46120" y="215798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FB199"/>
                </a:solidFill>
              </a:rPr>
              <a:t>OpenAI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89120" y="14173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FB199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663440" y="914400"/>
            <a:ext cx="1234440" cy="1371600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23" name="Shape 21"/>
          <p:cNvSpPr/>
          <p:nvPr/>
        </p:nvSpPr>
        <p:spPr>
          <a:xfrm>
            <a:off x="4663440" y="914400"/>
            <a:ext cx="1234440" cy="54864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9601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4709160" y="162763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語意搜尋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Top-K Retrieval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9160" y="215798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FB199"/>
                </a:solidFill>
              </a:rPr>
              <a:t>ChromaDB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52160" y="14173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FB199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126480" y="914400"/>
            <a:ext cx="1234440" cy="1371600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29" name="Shape 27"/>
          <p:cNvSpPr/>
          <p:nvPr/>
        </p:nvSpPr>
        <p:spPr>
          <a:xfrm>
            <a:off x="6126480" y="914400"/>
            <a:ext cx="1234440" cy="54864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9601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172200" y="162763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Context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Enrichment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72200" y="215798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FB199"/>
                </a:solidFill>
              </a:rPr>
              <a:t>縣市 + 寶寶資料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0" y="14173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FB199"/>
                </a:solidFill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589520" y="914400"/>
            <a:ext cx="1234440" cy="1371600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35" name="Shape 33"/>
          <p:cNvSpPr/>
          <p:nvPr/>
        </p:nvSpPr>
        <p:spPr>
          <a:xfrm>
            <a:off x="7589520" y="914400"/>
            <a:ext cx="1234440" cy="54864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36" name="Text 34"/>
          <p:cNvSpPr/>
          <p:nvPr/>
        </p:nvSpPr>
        <p:spPr>
          <a:xfrm>
            <a:off x="7589520" y="9601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💬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7635240" y="162763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LLM 生成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個人化回覆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635240" y="215798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FB199"/>
                </a:solidFill>
              </a:rPr>
              <a:t>GPT-4o-mini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2606040"/>
            <a:ext cx="8595360" cy="2286000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40" name="Shape 38"/>
          <p:cNvSpPr/>
          <p:nvPr/>
        </p:nvSpPr>
        <p:spPr>
          <a:xfrm>
            <a:off x="274320" y="2606040"/>
            <a:ext cx="54864" cy="2286000"/>
          </a:xfrm>
          <a:prstGeom prst="rect">
            <a:avLst/>
          </a:prstGeom>
          <a:solidFill>
            <a:srgbClr val="DFB199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26700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FB199"/>
                </a:solidFill>
              </a:rPr>
              <a:t>我們在 RAG 中的工程設計決策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57200" y="31272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ACFCE"/>
                </a:solidFill>
              </a:rPr>
              <a:t>📌  縣市 Metadata 過濾：搜尋時同時比對「目標縣市」與「全國通用」，確保回答不混用其他縣市的補助金額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457200" y="35478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ACFCE"/>
                </a:solidFill>
              </a:rPr>
              <a:t>📌  Context Enrichment：從 MySQL 拉取使用者戶籍縣市與所有寶寶年齡，注入 Prompt，LLM 回答時直接計算剩餘天數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57200" y="39684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ACFCE"/>
                </a:solidFill>
              </a:rPr>
              <a:t>📌  MD5 Hash 去重：爬蟲每次比對舊 hash，只有內容真正變動才觸發重新向量化，避免重複 Embedding 浪費 API 費用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457200" y="4389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ACFCE"/>
                </a:solidFill>
              </a:rPr>
              <a:t>📌  來源透明化：每次回覆附帶 wiki 來源標籤，使用者可追溯，增加信任度，也利於系統除錯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434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B6B4"/>
                </a:solidFill>
              </a:rPr>
              <a:t>Agent 設計 — 對話狀態機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234440" cy="1280160"/>
          </a:xfrm>
          <a:prstGeom prst="rect">
            <a:avLst/>
          </a:prstGeom>
          <a:solidFill>
            <a:srgbClr val="6E989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686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IDLE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35024"/>
            <a:ext cx="10515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7160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9F8"/>
                </a:solidFill>
              </a:rPr>
              <a:t>等待觸發詞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9F8"/>
                </a:solidFill>
              </a:rPr>
              <a:t>「設定寶寶」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1188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9896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737360" y="822960"/>
            <a:ext cx="1234440" cy="1280160"/>
          </a:xfrm>
          <a:prstGeom prst="rect">
            <a:avLst/>
          </a:prstGeom>
          <a:solidFill>
            <a:srgbClr val="99B6B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37360" y="8686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ASK_CITY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0" y="1335024"/>
            <a:ext cx="10515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137160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9F8"/>
                </a:solidFill>
              </a:rPr>
              <a:t>詢問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9F8"/>
                </a:solidFill>
              </a:rPr>
              <a:t>戶籍縣市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1188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9896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200400" y="822960"/>
            <a:ext cx="1234440" cy="1280160"/>
          </a:xfrm>
          <a:prstGeom prst="rect">
            <a:avLst/>
          </a:prstGeom>
          <a:solidFill>
            <a:srgbClr val="B879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0" y="8686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ASK_NICKNAME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91840" y="1335024"/>
            <a:ext cx="10515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37160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9F8"/>
                </a:solidFill>
              </a:rPr>
              <a:t>詢問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9F8"/>
                </a:solidFill>
              </a:rPr>
              <a:t>寶寶暱稱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0" y="1188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9896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663440" y="822960"/>
            <a:ext cx="1234440" cy="1280160"/>
          </a:xfrm>
          <a:prstGeom prst="rect">
            <a:avLst/>
          </a:prstGeom>
          <a:solidFill>
            <a:srgbClr val="DFB19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8686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ASK_BIRTHDATE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1335024"/>
            <a:ext cx="10515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37160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9F8"/>
                </a:solidFill>
              </a:rPr>
              <a:t>詢問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9F8"/>
                </a:solidFill>
              </a:rPr>
              <a:t>出生日期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52160" y="1188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9896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126480" y="822960"/>
            <a:ext cx="1234440" cy="1280160"/>
          </a:xfrm>
          <a:prstGeom prst="rect">
            <a:avLst/>
          </a:prstGeom>
          <a:solidFill>
            <a:srgbClr val="C0707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8686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ASK_GENDER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1335024"/>
            <a:ext cx="10515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137160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9F8"/>
                </a:solidFill>
              </a:rPr>
              <a:t>詢問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9F8"/>
                </a:solidFill>
              </a:rPr>
              <a:t>性別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0" y="1188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9896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589520" y="822960"/>
            <a:ext cx="1234440" cy="1280160"/>
          </a:xfrm>
          <a:prstGeom prst="rect">
            <a:avLst/>
          </a:prstGeom>
          <a:solidFill>
            <a:srgbClr val="99B6B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589520" y="8686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DONE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680960" y="1335024"/>
            <a:ext cx="10515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0" y="137160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9F8"/>
                </a:solidFill>
              </a:rPr>
              <a:t>寫入 MySQL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9F8"/>
                </a:solidFill>
              </a:rPr>
              <a:t>產生推播時程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2331720"/>
            <a:ext cx="274320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2331720"/>
            <a:ext cx="2743200" cy="54864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239572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💾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365760" y="30906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2C"/>
                </a:solidFill>
              </a:rPr>
              <a:t>狀態持久化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48640" y="3493008"/>
            <a:ext cx="2194560" cy="0"/>
          </a:xfrm>
          <a:prstGeom prst="line">
            <a:avLst/>
          </a:prstGeom>
          <a:noFill/>
          <a:ln w="9525">
            <a:solidFill>
              <a:srgbClr val="BACFC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356616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每個對話步驟存入 MySQL conversation_state 表，跨連線不遺失，支援中途離開後繼續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200400" y="2331720"/>
            <a:ext cx="274320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00400" y="2331720"/>
            <a:ext cx="2743200" cy="54864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41" name="Text 39"/>
          <p:cNvSpPr/>
          <p:nvPr/>
        </p:nvSpPr>
        <p:spPr>
          <a:xfrm>
            <a:off x="3200400" y="239572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42" name="Text 40"/>
          <p:cNvSpPr/>
          <p:nvPr/>
        </p:nvSpPr>
        <p:spPr>
          <a:xfrm>
            <a:off x="3291840" y="30906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2C"/>
                </a:solidFill>
              </a:rPr>
              <a:t>異常回復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3474720" y="3493008"/>
            <a:ext cx="2194560" cy="0"/>
          </a:xfrm>
          <a:prstGeom prst="line">
            <a:avLst/>
          </a:prstGeom>
          <a:noFill/>
          <a:ln w="9525">
            <a:solidFill>
              <a:srgbClr val="BACFC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10128" y="356616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使用者輸入格式錯誤（如生日格式）自動重新詢問，支援多種日期格式解析（民國 / 西元）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126480" y="2331720"/>
            <a:ext cx="274320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26480" y="2331720"/>
            <a:ext cx="2743200" cy="54864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47" name="Text 45"/>
          <p:cNvSpPr/>
          <p:nvPr/>
        </p:nvSpPr>
        <p:spPr>
          <a:xfrm>
            <a:off x="6126480" y="239572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48" name="Text 46"/>
          <p:cNvSpPr/>
          <p:nvPr/>
        </p:nvSpPr>
        <p:spPr>
          <a:xfrm>
            <a:off x="6217920" y="30906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2C"/>
                </a:solidFill>
              </a:rPr>
              <a:t>自動觸發推播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400800" y="3493008"/>
            <a:ext cx="2194560" cy="0"/>
          </a:xfrm>
          <a:prstGeom prst="line">
            <a:avLst/>
          </a:prstGeom>
          <a:noFill/>
          <a:ln w="9525">
            <a:solidFill>
              <a:srgbClr val="BACFC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36208" y="356616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完成建檔後立即呼叫 generate_push_schedule_for_child()，計算全套疫苗與補助到期日寫入 push_schedule 表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434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B6B4"/>
                </a:solidFill>
              </a:rPr>
              <a:t>主動時序提醒系統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8229600" cy="0"/>
          </a:xfrm>
          <a:prstGeom prst="line">
            <a:avLst/>
          </a:prstGeom>
          <a:noFill/>
          <a:ln w="25400">
            <a:solidFill>
              <a:srgbClr val="BACF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490472"/>
            <a:ext cx="228600" cy="228600"/>
          </a:xfrm>
          <a:prstGeom prst="ellipse">
            <a:avLst/>
          </a:prstGeom>
          <a:solidFill>
            <a:srgbClr val="99B6B4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1143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B6B4"/>
                </a:solidFill>
              </a:rPr>
              <a:t>出生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1874520"/>
            <a:ext cx="118872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0" y="18745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B肝第1劑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2331720"/>
            <a:ext cx="118872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0" y="23317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卡介苗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67712" y="1490472"/>
            <a:ext cx="228600" cy="228600"/>
          </a:xfrm>
          <a:prstGeom prst="ellipse">
            <a:avLst/>
          </a:prstGeom>
          <a:solidFill>
            <a:srgbClr val="DFB199"/>
          </a:solidFill>
          <a:ln/>
        </p:spPr>
      </p:sp>
      <p:sp>
        <p:nvSpPr>
          <p:cNvPr id="12" name="Text 10"/>
          <p:cNvSpPr/>
          <p:nvPr/>
        </p:nvSpPr>
        <p:spPr>
          <a:xfrm>
            <a:off x="1920240" y="1143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FB199"/>
                </a:solidFill>
              </a:rPr>
              <a:t>滿2個月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920240" y="1874520"/>
            <a:ext cx="118872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920240" y="18745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五合一第1劑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920240" y="2331720"/>
            <a:ext cx="118872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920240" y="23317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PCV13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920240" y="2788920"/>
            <a:ext cx="118872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920240" y="27889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輪狀病毒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87952" y="1490472"/>
            <a:ext cx="228600" cy="228600"/>
          </a:xfrm>
          <a:prstGeom prst="ellipse">
            <a:avLst/>
          </a:prstGeom>
          <a:solidFill>
            <a:srgbClr val="D48982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0" y="1143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8982"/>
                </a:solidFill>
              </a:rPr>
              <a:t>滿4個月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40480" y="1874520"/>
            <a:ext cx="118872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40480" y="18745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五合一第2劑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40480" y="2331720"/>
            <a:ext cx="118872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40480" y="23317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輪狀病毒第2劑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08192" y="1490472"/>
            <a:ext cx="228600" cy="228600"/>
          </a:xfrm>
          <a:prstGeom prst="ellipse">
            <a:avLst/>
          </a:prstGeom>
          <a:solidFill>
            <a:srgbClr val="99B6B4"/>
          </a:solidFill>
          <a:ln/>
        </p:spPr>
      </p:sp>
      <p:sp>
        <p:nvSpPr>
          <p:cNvPr id="26" name="Text 24"/>
          <p:cNvSpPr/>
          <p:nvPr/>
        </p:nvSpPr>
        <p:spPr>
          <a:xfrm>
            <a:off x="5760720" y="1143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B6B4"/>
                </a:solidFill>
              </a:rPr>
              <a:t>滿6個月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60720" y="1874520"/>
            <a:ext cx="118872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760720" y="18745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五合一第3劑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760720" y="2331720"/>
            <a:ext cx="118872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760720" y="23317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B型流感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28432" y="1490472"/>
            <a:ext cx="228600" cy="228600"/>
          </a:xfrm>
          <a:prstGeom prst="ellipse">
            <a:avLst/>
          </a:prstGeom>
          <a:solidFill>
            <a:srgbClr val="DFB199"/>
          </a:solidFill>
          <a:ln/>
        </p:spPr>
      </p:sp>
      <p:sp>
        <p:nvSpPr>
          <p:cNvPr id="32" name="Text 30"/>
          <p:cNvSpPr/>
          <p:nvPr/>
        </p:nvSpPr>
        <p:spPr>
          <a:xfrm>
            <a:off x="7680960" y="1143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FB199"/>
                </a:solidFill>
              </a:rPr>
              <a:t>滿1歲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680960" y="1874520"/>
            <a:ext cx="118872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680960" y="18745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MMR疫苗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680960" y="2331720"/>
            <a:ext cx="118872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680960" y="23317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水痘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680960" y="2788920"/>
            <a:ext cx="118872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680960" y="27889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A肝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3977640"/>
            <a:ext cx="9144000" cy="502920"/>
          </a:xfrm>
          <a:prstGeom prst="rect">
            <a:avLst/>
          </a:prstGeom>
          <a:solidFill>
            <a:srgbClr val="243432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40233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CFCE"/>
                </a:solidFill>
              </a:rPr>
              <a:t>APScheduler 每日 09:00 掃描 MySQL  →  比對今日里程碑  →  LINE Flex Message 推播  →  記錄 sent / failed 狀態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74320" y="4526280"/>
            <a:ext cx="8595360" cy="438912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455371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FB199"/>
                </a:solidFill>
              </a:rPr>
              <a:t>📋  除疫苗外，系統同步追蹤：育兒津貼（0-2 歲）·  托育補助期限  ·  生育獎勵金申辦（多縣市各異）·  育嬰留職停薪到期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434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B6B4"/>
                </a:solidFill>
              </a:rPr>
              <a:t>知識庫自動維護機制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2C"/>
                </a:solidFill>
              </a:rPr>
              <a:t>🕷️  自動爬蟲流程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243584"/>
            <a:ext cx="347472" cy="347472"/>
          </a:xfrm>
          <a:prstGeom prst="ellipse">
            <a:avLst/>
          </a:prstGeom>
          <a:solidFill>
            <a:srgbClr val="99B6B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43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9496" y="1591056"/>
            <a:ext cx="0" cy="137160"/>
          </a:xfrm>
          <a:prstGeom prst="line">
            <a:avLst/>
          </a:prstGeom>
          <a:noFill/>
          <a:ln w="15240">
            <a:solidFill>
              <a:srgbClr val="BACF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4358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2C"/>
                </a:solidFill>
              </a:rPr>
              <a:t>APScheduler 每週一 02:00 觸發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28216"/>
            <a:ext cx="347472" cy="347472"/>
          </a:xfrm>
          <a:prstGeom prst="ellipse">
            <a:avLst/>
          </a:prstGeom>
          <a:solidFill>
            <a:srgbClr val="99B6B4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728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9496" y="2075688"/>
            <a:ext cx="0" cy="137160"/>
          </a:xfrm>
          <a:prstGeom prst="line">
            <a:avLst/>
          </a:prstGeom>
          <a:noFill/>
          <a:ln w="15240">
            <a:solidFill>
              <a:srgbClr val="BACF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72821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requests 抓取政府網站 HTML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212848"/>
            <a:ext cx="347472" cy="347472"/>
          </a:xfrm>
          <a:prstGeom prst="ellipse">
            <a:avLst/>
          </a:prstGeom>
          <a:solidFill>
            <a:srgbClr val="99B6B4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9496" y="2560320"/>
            <a:ext cx="0" cy="137160"/>
          </a:xfrm>
          <a:prstGeom prst="line">
            <a:avLst/>
          </a:prstGeom>
          <a:noFill/>
          <a:ln w="15240">
            <a:solidFill>
              <a:srgbClr val="BACF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21284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2C"/>
                </a:solidFill>
              </a:rPr>
              <a:t>BeautifulSoup 解析正文，去除導覽雜訊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2697480"/>
            <a:ext cx="347472" cy="347472"/>
          </a:xfrm>
          <a:prstGeom prst="ellipse">
            <a:avLst/>
          </a:prstGeom>
          <a:solidFill>
            <a:srgbClr val="99B6B4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9496" y="3044952"/>
            <a:ext cx="0" cy="137160"/>
          </a:xfrm>
          <a:prstGeom prst="line">
            <a:avLst/>
          </a:prstGeom>
          <a:noFill/>
          <a:ln w="15240">
            <a:solidFill>
              <a:srgbClr val="BACF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6974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MD5 hash 比對：只有內容真正變動才更新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65760" y="3182112"/>
            <a:ext cx="347472" cy="347472"/>
          </a:xfrm>
          <a:prstGeom prst="ellipse">
            <a:avLst/>
          </a:prstGeom>
          <a:solidFill>
            <a:srgbClr val="99B6B4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9496" y="3529584"/>
            <a:ext cx="0" cy="137160"/>
          </a:xfrm>
          <a:prstGeom prst="line">
            <a:avLst/>
          </a:prstGeom>
          <a:noFill/>
          <a:ln w="15240">
            <a:solidFill>
              <a:srgbClr val="BACFC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18211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2C"/>
                </a:solidFill>
              </a:rPr>
              <a:t>自動更新 .md wiki 檔案並記錄 crawl_log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65760" y="3666744"/>
            <a:ext cx="347472" cy="347472"/>
          </a:xfrm>
          <a:prstGeom prst="ellipse">
            <a:avLst/>
          </a:prstGeom>
          <a:solidFill>
            <a:srgbClr val="99B6B4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366674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觸發 wiki_loader 重新向量化寫入 ChromaDB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26280" y="777240"/>
            <a:ext cx="0" cy="4114800"/>
          </a:xfrm>
          <a:prstGeom prst="line">
            <a:avLst/>
          </a:prstGeom>
          <a:noFill/>
          <a:ln w="9525">
            <a:solidFill>
              <a:srgbClr val="BACFC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777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2C"/>
                </a:solidFill>
              </a:rPr>
              <a:t>📄  PDF 解析方法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663440" y="123444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1234440"/>
            <a:ext cx="54864" cy="868680"/>
          </a:xfrm>
          <a:prstGeom prst="rect">
            <a:avLst/>
          </a:prstGeom>
          <a:solidFill>
            <a:srgbClr val="DFB199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C"/>
                </a:solidFill>
              </a:rPr>
              <a:t>📁 命名慣例驅動解析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00600" y="16184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「台北市_親子廁所地圖.pdf」→ 自動解析縣市 = 台北市，標題 = 親子廁所地圖，無需人工標記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663440" y="224028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2240280"/>
            <a:ext cx="54864" cy="868680"/>
          </a:xfrm>
          <a:prstGeom prst="rect">
            <a:avLst/>
          </a:prstGeom>
          <a:solidFill>
            <a:srgbClr val="DFB199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2286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C"/>
                </a:solidFill>
              </a:rPr>
              <a:t>🔤 pdfplumber 文字提取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00600" y="26243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逐頁提取純文字，與 Markdown 走相同的切塊 → 向量化 → ChromaDB 入庫流程，兩種格式完全統一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663440" y="324612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3246120"/>
            <a:ext cx="54864" cy="868680"/>
          </a:xfrm>
          <a:prstGeom prst="rect">
            <a:avLst/>
          </a:prstGeom>
          <a:solidFill>
            <a:srgbClr val="DFB199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3291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C"/>
                </a:solidFill>
              </a:rPr>
              <a:t>⚠️ 掃描型 PDF 自動跳過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800600" y="36301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圖片型 PDF 無法提取文字，系統自動記錄警告 log 並跳過，避免靜默失敗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663440" y="4251960"/>
            <a:ext cx="4206240" cy="594360"/>
          </a:xfrm>
          <a:prstGeom prst="rect">
            <a:avLst/>
          </a:prstGeom>
          <a:solidFill>
            <a:srgbClr val="243432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427939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監控網站：born.taipei · sfaa.gov.tw · hpa.gov.tw · mohw.gov.tw · tfp.gov.tw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434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B6B4"/>
                </a:solidFill>
              </a:rPr>
              <a:t>社群論壇 — Dcard 風格平台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572768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1572768" cy="54864"/>
          </a:xfrm>
          <a:prstGeom prst="rect">
            <a:avLst/>
          </a:prstGeom>
          <a:solidFill>
            <a:srgbClr val="DFB199"/>
          </a:solidFill>
          <a:ln/>
        </p:spPr>
      </p:sp>
      <p:sp>
        <p:nvSpPr>
          <p:cNvPr id="6" name="Shape 4"/>
          <p:cNvSpPr/>
          <p:nvPr/>
        </p:nvSpPr>
        <p:spPr>
          <a:xfrm>
            <a:off x="832104" y="914400"/>
            <a:ext cx="457200" cy="457200"/>
          </a:xfrm>
          <a:prstGeom prst="ellipse">
            <a:avLst/>
          </a:prstGeom>
          <a:solidFill>
            <a:srgbClr val="DFB199"/>
          </a:solidFill>
          <a:ln/>
        </p:spPr>
      </p:sp>
      <p:sp>
        <p:nvSpPr>
          <p:cNvPr id="7" name="Text 5"/>
          <p:cNvSpPr/>
          <p:nvPr/>
        </p:nvSpPr>
        <p:spPr>
          <a:xfrm>
            <a:off x="832104" y="914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9184" y="14630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2C"/>
                </a:solidFill>
              </a:rPr>
              <a:t>補助討論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" y="1828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申辦心得 / 比較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0" y="777240"/>
            <a:ext cx="1572768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0" y="777240"/>
            <a:ext cx="1572768" cy="54864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12" name="Shape 10"/>
          <p:cNvSpPr/>
          <p:nvPr/>
        </p:nvSpPr>
        <p:spPr>
          <a:xfrm>
            <a:off x="2569464" y="914400"/>
            <a:ext cx="457200" cy="457200"/>
          </a:xfrm>
          <a:prstGeom prst="ellipse">
            <a:avLst/>
          </a:prstGeom>
          <a:solidFill>
            <a:srgbClr val="99B6B4"/>
          </a:solidFill>
          <a:ln/>
        </p:spPr>
      </p:sp>
      <p:sp>
        <p:nvSpPr>
          <p:cNvPr id="13" name="Text 11"/>
          <p:cNvSpPr/>
          <p:nvPr/>
        </p:nvSpPr>
        <p:spPr>
          <a:xfrm>
            <a:off x="2569464" y="914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🍼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66544" y="14630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2C"/>
                </a:solidFill>
              </a:rPr>
              <a:t>寶寶健康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66544" y="1828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疫苗 / 健檢 / 發展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49040" y="777240"/>
            <a:ext cx="1572768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49040" y="777240"/>
            <a:ext cx="1572768" cy="54864"/>
          </a:xfrm>
          <a:prstGeom prst="rect">
            <a:avLst/>
          </a:prstGeom>
          <a:solidFill>
            <a:srgbClr val="BACFCE"/>
          </a:solidFill>
          <a:ln/>
        </p:spPr>
      </p:sp>
      <p:sp>
        <p:nvSpPr>
          <p:cNvPr id="18" name="Shape 16"/>
          <p:cNvSpPr/>
          <p:nvPr/>
        </p:nvSpPr>
        <p:spPr>
          <a:xfrm>
            <a:off x="4306824" y="914400"/>
            <a:ext cx="457200" cy="457200"/>
          </a:xfrm>
          <a:prstGeom prst="ellipse">
            <a:avLst/>
          </a:prstGeom>
          <a:solidFill>
            <a:srgbClr val="BACFCE"/>
          </a:solidFill>
          <a:ln/>
        </p:spPr>
      </p:sp>
      <p:sp>
        <p:nvSpPr>
          <p:cNvPr id="19" name="Text 17"/>
          <p:cNvSpPr/>
          <p:nvPr/>
        </p:nvSpPr>
        <p:spPr>
          <a:xfrm>
            <a:off x="4306824" y="914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🏠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03904" y="14630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2C"/>
                </a:solidFill>
              </a:rPr>
              <a:t>托育分享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03904" y="1828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公托 / 保母評價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0" y="777240"/>
            <a:ext cx="1572768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0" y="777240"/>
            <a:ext cx="1572768" cy="54864"/>
          </a:xfrm>
          <a:prstGeom prst="rect">
            <a:avLst/>
          </a:prstGeom>
          <a:solidFill>
            <a:srgbClr val="D48982"/>
          </a:solidFill>
          <a:ln/>
        </p:spPr>
      </p:sp>
      <p:sp>
        <p:nvSpPr>
          <p:cNvPr id="24" name="Shape 22"/>
          <p:cNvSpPr/>
          <p:nvPr/>
        </p:nvSpPr>
        <p:spPr>
          <a:xfrm>
            <a:off x="6044184" y="914400"/>
            <a:ext cx="457200" cy="457200"/>
          </a:xfrm>
          <a:prstGeom prst="ellipse">
            <a:avLst/>
          </a:prstGeom>
          <a:solidFill>
            <a:srgbClr val="D48982"/>
          </a:solidFill>
          <a:ln/>
        </p:spPr>
      </p:sp>
      <p:sp>
        <p:nvSpPr>
          <p:cNvPr id="25" name="Text 23"/>
          <p:cNvSpPr/>
          <p:nvPr/>
        </p:nvSpPr>
        <p:spPr>
          <a:xfrm>
            <a:off x="6044184" y="914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41264" y="14630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2C"/>
                </a:solidFill>
              </a:rPr>
              <a:t>新手問答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41264" y="1828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什麼都可以問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223760" y="777240"/>
            <a:ext cx="1572768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23760" y="777240"/>
            <a:ext cx="1572768" cy="54864"/>
          </a:xfrm>
          <a:prstGeom prst="rect">
            <a:avLst/>
          </a:prstGeom>
          <a:solidFill>
            <a:srgbClr val="6E9896"/>
          </a:solidFill>
          <a:ln/>
        </p:spPr>
      </p:sp>
      <p:sp>
        <p:nvSpPr>
          <p:cNvPr id="30" name="Shape 28"/>
          <p:cNvSpPr/>
          <p:nvPr/>
        </p:nvSpPr>
        <p:spPr>
          <a:xfrm>
            <a:off x="7781544" y="914400"/>
            <a:ext cx="457200" cy="457200"/>
          </a:xfrm>
          <a:prstGeom prst="ellipse">
            <a:avLst/>
          </a:prstGeom>
          <a:solidFill>
            <a:srgbClr val="6E9896"/>
          </a:solidFill>
          <a:ln/>
        </p:spPr>
      </p:sp>
      <p:sp>
        <p:nvSpPr>
          <p:cNvPr id="31" name="Text 29"/>
          <p:cNvSpPr/>
          <p:nvPr/>
        </p:nvSpPr>
        <p:spPr>
          <a:xfrm>
            <a:off x="7781544" y="914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🌿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78624" y="14630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2C"/>
                </a:solidFill>
              </a:rPr>
              <a:t>生活日常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78624" y="1828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育兒日記 / 親子活動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27889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2C"/>
                </a:solidFill>
              </a:rPr>
              <a:t>系統功能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274320" y="3218688"/>
            <a:ext cx="42062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321868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9896"/>
                </a:solidFill>
              </a:rPr>
              <a:t>🔐  帳號系統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bcrypt 密碼雜湊 + Flask Session，login_required decorator 保護寫入路由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3218688"/>
            <a:ext cx="42062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46320" y="321868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9896"/>
                </a:solidFill>
              </a:rPr>
              <a:t>📝  發文與留言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發文含標題 / 內文 / 板塊，支援匿名；巢狀留言透過 parent_id 實現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3749040"/>
            <a:ext cx="42062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65760" y="374904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9896"/>
                </a:solidFill>
              </a:rPr>
              <a:t>❤️  互動功能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按讚 / 取消切換（Toggle）；熱門貼文依 like×3 + comment×2 + view 加權排序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54880" y="3749040"/>
            <a:ext cx="42062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846320" y="374904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9896"/>
                </a:solidFill>
              </a:rPr>
              <a:t>🗑️  安全刪除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軟刪除（is_deleted = 1），作者本人或 moderator 角色才可刪除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4320" y="4279392"/>
            <a:ext cx="42062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65760" y="427939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9896"/>
                </a:solidFill>
              </a:rPr>
              <a:t>📊  熱門排行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v_hot_posts VIEW 即時計算前 10 篇，前端一鍵切換「最新 / 熱門」排序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754880" y="4279392"/>
            <a:ext cx="42062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846320" y="427939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9896"/>
                </a:solidFill>
              </a:rPr>
              <a:t>🌐  跨域支援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flask-cors 允許前端 v5.html 直接呼叫 /forum/* API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43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B6B4"/>
                </a:solidFill>
              </a:rPr>
              <a:t>部署架構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0"/>
          </a:xfrm>
          <a:prstGeom prst="line">
            <a:avLst/>
          </a:prstGeom>
          <a:noFill/>
          <a:ln w="12700">
            <a:solidFill>
              <a:srgbClr val="99B6B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914400"/>
            <a:ext cx="2377440" cy="1005840"/>
          </a:xfrm>
          <a:prstGeom prst="rect">
            <a:avLst/>
          </a:prstGeom>
          <a:solidFill>
            <a:srgbClr val="6E989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875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🐳 Docker MySQL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353312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parenting_nav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Linux 本地主機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持久化 Volume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2194560"/>
            <a:ext cx="2377440" cy="1005840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22677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📁 ChromaDB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2633472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./chroma_db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向量持久化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(Render Disk)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2743200" cy="1828800"/>
          </a:xfrm>
          <a:prstGeom prst="rect">
            <a:avLst/>
          </a:prstGeom>
          <a:solidFill>
            <a:srgbClr val="B8795A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3533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🚀 Render.com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1719072"/>
            <a:ext cx="25603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Web Service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Docker runtime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Singapore region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gunicorn 2 workers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914400"/>
            <a:ext cx="2286000" cy="914400"/>
          </a:xfrm>
          <a:prstGeom prst="rect">
            <a:avLst/>
          </a:prstGeom>
          <a:solidFill>
            <a:srgbClr val="6E9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9875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💬 LINE Platform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66560" y="135331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Messaging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Webhook + Push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75120" y="2103120"/>
            <a:ext cx="2286000" cy="914400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21762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🤖 OpenAI API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66560" y="254203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GPT-4o-mini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Embedding API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75120" y="3200400"/>
            <a:ext cx="2286000" cy="822960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32735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🌐 前端 v5.html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66560" y="363931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靜態 HTML + 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呼叫 /chat API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0604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FB199"/>
                </a:solidFill>
              </a:rPr>
              <a:t>↔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98932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FB199"/>
                </a:solidFill>
              </a:rPr>
              <a:t>↔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989320" y="2377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FB199"/>
                </a:solidFill>
              </a:rPr>
              <a:t>↔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606040" y="2514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FB199"/>
                </a:solidFill>
              </a:rPr>
              <a:t>↔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82880" y="4297680"/>
            <a:ext cx="8778240" cy="594360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3434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ACFCE"/>
                </a:solidFill>
              </a:rPr>
              <a:t>Docker MySQL 在本地 Linux 主機  ·  Flask 後端部署 Render.com  ·  LINE Webhook 指向 Render 網址  ·  前端 HTML 靜態托管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434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B6B4"/>
                </a:solidFill>
              </a:rPr>
              <a:t>商業價值與延伸應用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965960" cy="1280160"/>
          </a:xfrm>
          <a:prstGeom prst="rect">
            <a:avLst/>
          </a:prstGeom>
          <a:solidFill>
            <a:srgbClr val="243432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686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FB199"/>
                </a:solidFill>
              </a:rPr>
              <a:t>20萬+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5087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台灣每年新生兒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B6B4"/>
                </a:solidFill>
              </a:rPr>
              <a:t>目標受眾規模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777240"/>
            <a:ext cx="1965960" cy="1280160"/>
          </a:xfrm>
          <a:prstGeom prst="rect">
            <a:avLst/>
          </a:prstGeom>
          <a:solidFill>
            <a:srgbClr val="243432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8686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FB199"/>
                </a:solidFill>
              </a:rPr>
              <a:t>6縣市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23160" y="15087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精準客製化資料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8288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B6B4"/>
                </a:solidFill>
              </a:rPr>
              <a:t>可快速擴展至全台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777240"/>
            <a:ext cx="1965960" cy="1280160"/>
          </a:xfrm>
          <a:prstGeom prst="rect">
            <a:avLst/>
          </a:prstGeom>
          <a:solidFill>
            <a:srgbClr val="243432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8686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FB199"/>
                </a:solidFill>
              </a:rPr>
              <a:t>26+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572000" y="15087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知識文件即時更新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18288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B6B4"/>
                </a:solidFill>
              </a:rPr>
              <a:t>政府政策異動自動同步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20840" y="777240"/>
            <a:ext cx="1965960" cy="1280160"/>
          </a:xfrm>
          <a:prstGeom prst="rect">
            <a:avLst/>
          </a:prstGeom>
          <a:solidFill>
            <a:srgbClr val="243432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8686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FB199"/>
                </a:solidFill>
              </a:rPr>
              <a:t>零人力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720840" y="15087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自動推播 + 爬蟲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20840" y="18288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B6B4"/>
                </a:solidFill>
              </a:rPr>
              <a:t>知識庫無人值守維護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194560"/>
            <a:ext cx="2788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194560"/>
            <a:ext cx="2788920" cy="54864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22" name="Shape 20"/>
          <p:cNvSpPr/>
          <p:nvPr/>
        </p:nvSpPr>
        <p:spPr>
          <a:xfrm>
            <a:off x="1188720" y="2331720"/>
            <a:ext cx="822960" cy="822960"/>
          </a:xfrm>
          <a:prstGeom prst="ellipse">
            <a:avLst/>
          </a:prstGeom>
          <a:solidFill>
            <a:srgbClr val="DDF0EF"/>
          </a:solidFill>
          <a:ln/>
        </p:spPr>
      </p:sp>
      <p:sp>
        <p:nvSpPr>
          <p:cNvPr id="23" name="Text 21"/>
          <p:cNvSpPr/>
          <p:nvPr/>
        </p:nvSpPr>
        <p:spPr>
          <a:xfrm>
            <a:off x="1188720" y="2331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🏛️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65760" y="32461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2C"/>
                </a:solidFill>
              </a:rPr>
              <a:t>政府 / 公益應用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4360" y="3694176"/>
            <a:ext cx="2148840" cy="0"/>
          </a:xfrm>
          <a:prstGeom prst="line">
            <a:avLst/>
          </a:prstGeom>
          <a:noFill/>
          <a:ln w="9525">
            <a:solidFill>
              <a:srgbClr val="BACFC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749040"/>
            <a:ext cx="256946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接入衛福部、各縣市政府官方 LINE 帳號，作為政策宣達的智慧問答介面，降低客服人力成本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0" y="2194560"/>
            <a:ext cx="2788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2194560"/>
            <a:ext cx="2788920" cy="54864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29" name="Shape 27"/>
          <p:cNvSpPr/>
          <p:nvPr/>
        </p:nvSpPr>
        <p:spPr>
          <a:xfrm>
            <a:off x="4114800" y="2331720"/>
            <a:ext cx="822960" cy="822960"/>
          </a:xfrm>
          <a:prstGeom prst="ellipse">
            <a:avLst/>
          </a:prstGeom>
          <a:solidFill>
            <a:srgbClr val="DDF0EF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0" y="2331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3291840" y="32461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2C"/>
                </a:solidFill>
              </a:rPr>
              <a:t>育兒 App 嵌入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520440" y="3694176"/>
            <a:ext cx="2148840" cy="0"/>
          </a:xfrm>
          <a:prstGeom prst="line">
            <a:avLst/>
          </a:prstGeom>
          <a:noFill/>
          <a:ln w="9525">
            <a:solidFill>
              <a:srgbClr val="BACFC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0128" y="3749040"/>
            <a:ext cx="256946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將 RAG + 推播引擎作為 SDK，嵌入現有育兒 App（如 BabyHome、親子天下），快速增加 AI 附加價值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26480" y="2194560"/>
            <a:ext cx="2788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2194560"/>
            <a:ext cx="2788920" cy="54864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36" name="Shape 34"/>
          <p:cNvSpPr/>
          <p:nvPr/>
        </p:nvSpPr>
        <p:spPr>
          <a:xfrm>
            <a:off x="7040880" y="2331720"/>
            <a:ext cx="822960" cy="822960"/>
          </a:xfrm>
          <a:prstGeom prst="ellipse">
            <a:avLst/>
          </a:prstGeom>
          <a:solidFill>
            <a:srgbClr val="DDF0EF"/>
          </a:solidFill>
          <a:ln/>
        </p:spPr>
      </p:sp>
      <p:sp>
        <p:nvSpPr>
          <p:cNvPr id="37" name="Text 35"/>
          <p:cNvSpPr/>
          <p:nvPr/>
        </p:nvSpPr>
        <p:spPr>
          <a:xfrm>
            <a:off x="7040880" y="2331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💊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217920" y="32461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2C"/>
                </a:solidFill>
              </a:rPr>
              <a:t>垂直領域複製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446520" y="3694176"/>
            <a:ext cx="2148840" cy="0"/>
          </a:xfrm>
          <a:prstGeom prst="line">
            <a:avLst/>
          </a:prstGeom>
          <a:noFill/>
          <a:ln w="9525">
            <a:solidFill>
              <a:srgbClr val="BACFC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36208" y="3749040"/>
            <a:ext cx="256946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相同的架構（RAG + 爬蟲 + 時序推播）可快速複製到長照照護、慢性病管理、學齡兒童教育等領域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434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B6B4"/>
                </a:solidFill>
              </a:rPr>
              <a:t>商業模式九宮格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" y="621792"/>
            <a:ext cx="1737360" cy="35387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" y="621792"/>
            <a:ext cx="1737360" cy="365760"/>
          </a:xfrm>
          <a:prstGeom prst="rect">
            <a:avLst/>
          </a:prstGeom>
          <a:solidFill>
            <a:srgbClr val="6E9896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" y="6217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 / 關鍵合作夥伴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1024128"/>
            <a:ext cx="160020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衛福部/縣市政府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LINE Corporation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OpenAI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Render.com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47088" y="621792"/>
            <a:ext cx="14630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47088" y="621792"/>
            <a:ext cx="1463040" cy="365760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10" name="Text 8"/>
          <p:cNvSpPr/>
          <p:nvPr/>
        </p:nvSpPr>
        <p:spPr>
          <a:xfrm>
            <a:off x="1920240" y="6217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 / 關鍵活動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38528" y="1024128"/>
            <a:ext cx="1325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竹蛲自動更新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RAG 引擎導化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疫苗時序維護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論壇內容管理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74136" y="621792"/>
            <a:ext cx="1920240" cy="35387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74136" y="621792"/>
            <a:ext cx="1920240" cy="365760"/>
          </a:xfrm>
          <a:prstGeom prst="rect">
            <a:avLst/>
          </a:prstGeom>
          <a:solidFill>
            <a:srgbClr val="B8795A"/>
          </a:solidFill>
          <a:ln/>
        </p:spPr>
      </p:sp>
      <p:sp>
        <p:nvSpPr>
          <p:cNvPr id="14" name="Text 12"/>
          <p:cNvSpPr/>
          <p:nvPr/>
        </p:nvSpPr>
        <p:spPr>
          <a:xfrm>
            <a:off x="3447288" y="6217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 / 價値主張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65576" y="1024128"/>
            <a:ext cx="178308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一站整合 26+ 個政府資料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依縣市+寶寶年齡個人化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疫苗/補助主動推播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答案附官方來源標簽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LINE 直接使用，零學習成本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58384" y="621792"/>
            <a:ext cx="14630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58384" y="621792"/>
            <a:ext cx="1463040" cy="365760"/>
          </a:xfrm>
          <a:prstGeom prst="rect">
            <a:avLst/>
          </a:prstGeom>
          <a:solidFill>
            <a:srgbClr val="6E9896"/>
          </a:solidFill>
          <a:ln/>
        </p:spPr>
      </p:sp>
      <p:sp>
        <p:nvSpPr>
          <p:cNvPr id="18" name="Text 16"/>
          <p:cNvSpPr/>
          <p:nvPr/>
        </p:nvSpPr>
        <p:spPr>
          <a:xfrm>
            <a:off x="5431536" y="6217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 / 顧客關係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49824" y="1024128"/>
            <a:ext cx="1325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全天候 AI 問答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主動推播提醒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Dcard 社群互助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對話狀態機引導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85432" y="621792"/>
            <a:ext cx="1737360" cy="35387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85432" y="621792"/>
            <a:ext cx="1737360" cy="365760"/>
          </a:xfrm>
          <a:prstGeom prst="rect">
            <a:avLst/>
          </a:prstGeom>
          <a:solidFill>
            <a:srgbClr val="D48982"/>
          </a:solidFill>
          <a:ln/>
        </p:spPr>
      </p:sp>
      <p:sp>
        <p:nvSpPr>
          <p:cNvPr id="22" name="Text 20"/>
          <p:cNvSpPr/>
          <p:nvPr/>
        </p:nvSpPr>
        <p:spPr>
          <a:xfrm>
            <a:off x="6958584" y="6217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 / 目標客層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76872" y="1024128"/>
            <a:ext cx="160020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主力：0-3 歲娧幼兒家長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次要：孕婦（備孕/孕期）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潛力：特殊境遇家庭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台灣每年 20 萬+ 新生兒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LINE 溲透率 90%+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47088" y="2606040"/>
            <a:ext cx="1463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847088" y="2606040"/>
            <a:ext cx="1463040" cy="365760"/>
          </a:xfrm>
          <a:prstGeom prst="rect">
            <a:avLst/>
          </a:prstGeom>
          <a:solidFill>
            <a:srgbClr val="DFB199"/>
          </a:solidFill>
          <a:ln/>
        </p:spPr>
      </p:sp>
      <p:sp>
        <p:nvSpPr>
          <p:cNvPr id="26" name="Text 24"/>
          <p:cNvSpPr/>
          <p:nvPr/>
        </p:nvSpPr>
        <p:spPr>
          <a:xfrm>
            <a:off x="1920240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 / 關鍵資源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938528" y="3008376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RAG 向量知識庫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26+ 份政府 Wiki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MySQL 使用者資料庫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OpenAI API 存取權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58384" y="2606040"/>
            <a:ext cx="1463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358384" y="2606040"/>
            <a:ext cx="1463040" cy="365760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30" name="Text 28"/>
          <p:cNvSpPr/>
          <p:nvPr/>
        </p:nvSpPr>
        <p:spPr>
          <a:xfrm>
            <a:off x="5431536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 / 通路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49824" y="3008376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LINE Bot （主通路）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網頁浮動聊天 Widget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社群論壇口碑擴散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B2G 政府官網嵌入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" y="4224528"/>
            <a:ext cx="4462272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" y="4224528"/>
            <a:ext cx="4462272" cy="365760"/>
          </a:xfrm>
          <a:prstGeom prst="rect">
            <a:avLst/>
          </a:prstGeom>
          <a:solidFill>
            <a:srgbClr val="6E9896"/>
          </a:solidFill>
          <a:ln/>
        </p:spPr>
      </p:sp>
      <p:sp>
        <p:nvSpPr>
          <p:cNvPr id="34" name="Text 32"/>
          <p:cNvSpPr/>
          <p:nvPr/>
        </p:nvSpPr>
        <p:spPr>
          <a:xfrm>
            <a:off x="118872" y="4224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 / C$ 成本結構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8872" y="460857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OpenAI API  ·  Render 主機費  ·  MySQL/ChromaDB 儲存  ·  LINE 超量推播費  ·  眧蛲維護人力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36008" y="4224528"/>
            <a:ext cx="4462272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36008" y="4224528"/>
            <a:ext cx="4462272" cy="365760"/>
          </a:xfrm>
          <a:prstGeom prst="rect">
            <a:avLst/>
          </a:prstGeom>
          <a:solidFill>
            <a:srgbClr val="B8795A"/>
          </a:solidFill>
          <a:ln/>
        </p:spPr>
      </p:sp>
      <p:sp>
        <p:nvSpPr>
          <p:cNvPr id="38" name="Text 36"/>
          <p:cNvSpPr/>
          <p:nvPr/>
        </p:nvSpPr>
        <p:spPr>
          <a:xfrm>
            <a:off x="4709160" y="4224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 / R$ 收益流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09160" y="460857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B2G 政府標案  ·  B2B SaaS 授權（育兒 App）  ·  親子廣告投放  ·  垂直領域複製授權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434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B6B4"/>
                </a:solidFill>
              </a:rPr>
              <a:t>預測評審問題  —  Q &amp; 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4206240" cy="13167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49808"/>
            <a:ext cx="54864" cy="1316736"/>
          </a:xfrm>
          <a:prstGeom prst="rect">
            <a:avLst/>
          </a:prstGeom>
          <a:solidFill>
            <a:srgbClr val="DFB199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1381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B199"/>
                </a:solidFill>
              </a:rPr>
              <a:t>Q  </a:t>
            </a:r>
            <a:pPr indent="0" marL="0">
              <a:buNone/>
            </a:pPr>
            <a:r>
              <a:rPr lang="en-US" sz="1200" b="1" dirty="0">
                <a:solidFill>
                  <a:srgbClr val="1A2E2C"/>
                </a:solidFill>
              </a:rPr>
              <a:t>小幫手不知道的問題，它會怎麼回答？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43584"/>
            <a:ext cx="3886200" cy="0"/>
          </a:xfrm>
          <a:prstGeom prst="line">
            <a:avLst/>
          </a:prstGeom>
          <a:noFill/>
          <a:ln w="6350">
            <a:solidFill>
              <a:srgbClr val="BACF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80160"/>
            <a:ext cx="39319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9896"/>
                </a:solidFill>
              </a:rPr>
              <a:t>A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Prompt 明確指示 LLM：若 RAG 找不到相關 Chunk，回答「抱歉，我的知識庫目前沒有這項資料，建議您致電 1925 衛福部談詢專線，或前往 born.taipei 查詢」— 不捧造答案。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749808"/>
            <a:ext cx="4206240" cy="13167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749808"/>
            <a:ext cx="54864" cy="1316736"/>
          </a:xfrm>
          <a:prstGeom prst="rect">
            <a:avLst/>
          </a:prstGeom>
          <a:solidFill>
            <a:srgbClr val="DFB199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81381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B199"/>
                </a:solidFill>
              </a:rPr>
              <a:t>Q  </a:t>
            </a:r>
            <a:pPr indent="0" marL="0">
              <a:buNone/>
            </a:pPr>
            <a:r>
              <a:rPr lang="en-US" sz="1200" b="1" dirty="0">
                <a:solidFill>
                  <a:srgbClr val="1A2E2C"/>
                </a:solidFill>
              </a:rPr>
              <a:t>兩個縣市補助不同，怎確保回答不會用錯縣市資料？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243584"/>
            <a:ext cx="3886200" cy="0"/>
          </a:xfrm>
          <a:prstGeom prst="line">
            <a:avLst/>
          </a:prstGeom>
          <a:noFill/>
          <a:ln w="6350">
            <a:solidFill>
              <a:srgbClr val="BACF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280160"/>
            <a:ext cx="39319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9896"/>
                </a:solidFill>
              </a:rPr>
              <a:t>A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ChromaDB 搜尋時帶入 Metadata 過濾：$or [{city: 目標縣市}, {city: 全國}]，只擈符合戶籍縣市或全國適用的 Chunk，物理隔離其他縣市文件。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2185416"/>
            <a:ext cx="4206240" cy="13167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185416"/>
            <a:ext cx="54864" cy="1316736"/>
          </a:xfrm>
          <a:prstGeom prst="rect">
            <a:avLst/>
          </a:prstGeom>
          <a:solidFill>
            <a:srgbClr val="DFB199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24942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B199"/>
                </a:solidFill>
              </a:rPr>
              <a:t>Q  </a:t>
            </a:r>
            <a:pPr indent="0" marL="0">
              <a:buNone/>
            </a:pPr>
            <a:r>
              <a:rPr lang="en-US" sz="1200" b="1" dirty="0">
                <a:solidFill>
                  <a:srgbClr val="1A2E2C"/>
                </a:solidFill>
              </a:rPr>
              <a:t>政府資料常更新，怎確保知識庫即時？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679192"/>
            <a:ext cx="3886200" cy="0"/>
          </a:xfrm>
          <a:prstGeom prst="line">
            <a:avLst/>
          </a:prstGeom>
          <a:noFill/>
          <a:ln w="6350">
            <a:solidFill>
              <a:srgbClr val="BACF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715768"/>
            <a:ext cx="39319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9896"/>
                </a:solidFill>
              </a:rPr>
              <a:t>A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眧蛲每週一 02:00 自動抓取 5 個政府網站，MD5 hash 比對後，只有內容真正變動才重新入庫向量化。長期可改為每日觸發，費用仍在可控範圍。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185416"/>
            <a:ext cx="4206240" cy="13167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185416"/>
            <a:ext cx="54864" cy="1316736"/>
          </a:xfrm>
          <a:prstGeom prst="rect">
            <a:avLst/>
          </a:prstGeom>
          <a:solidFill>
            <a:srgbClr val="DFB199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24942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B199"/>
                </a:solidFill>
              </a:rPr>
              <a:t>Q  </a:t>
            </a:r>
            <a:pPr indent="0" marL="0">
              <a:buNone/>
            </a:pPr>
            <a:r>
              <a:rPr lang="en-US" sz="1200" b="1" dirty="0">
                <a:solidFill>
                  <a:srgbClr val="1A2E2C"/>
                </a:solidFill>
              </a:rPr>
              <a:t>為什麼要做 RAG？直接問 ChatGPT 不行嗎？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2679192"/>
            <a:ext cx="3886200" cy="0"/>
          </a:xfrm>
          <a:prstGeom prst="line">
            <a:avLst/>
          </a:prstGeom>
          <a:noFill/>
          <a:ln w="6350">
            <a:solidFill>
              <a:srgbClr val="BACF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715768"/>
            <a:ext cx="39319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9896"/>
                </a:solidFill>
              </a:rPr>
              <a:t>A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GPT 訓練截止日後的政策更新不會知道；更嚴重的是 LLM 幻覺可能捧造補助金額或截止日期，造成使用者財損。RAG 確保每次回答有政府文件根據且附來源可追湯。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3621024"/>
            <a:ext cx="4206240" cy="13167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621024"/>
            <a:ext cx="54864" cy="1316736"/>
          </a:xfrm>
          <a:prstGeom prst="rect">
            <a:avLst/>
          </a:prstGeom>
          <a:solidFill>
            <a:srgbClr val="DFB199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68503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B199"/>
                </a:solidFill>
              </a:rPr>
              <a:t>Q  </a:t>
            </a:r>
            <a:pPr indent="0" marL="0">
              <a:buNone/>
            </a:pPr>
            <a:r>
              <a:rPr lang="en-US" sz="1200" b="1" dirty="0">
                <a:solidFill>
                  <a:srgbClr val="1A2E2C"/>
                </a:solidFill>
              </a:rPr>
              <a:t>推播會騷擾用戶嗎？可以關採嗎？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4114800"/>
            <a:ext cx="3886200" cy="0"/>
          </a:xfrm>
          <a:prstGeom prst="line">
            <a:avLst/>
          </a:prstGeom>
          <a:noFill/>
          <a:ln w="6350">
            <a:solidFill>
              <a:srgbClr val="BACFC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151376"/>
            <a:ext cx="39319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9896"/>
                </a:solidFill>
              </a:rPr>
              <a:t>A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只有在里程碑到期當天才觸發推播，非每天都發。關閉功能為可擴充項目（在 push_schedule 加 is_enabled 欄位即可），目前以驗證核心功能為優先。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621024"/>
            <a:ext cx="4206240" cy="13167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621024"/>
            <a:ext cx="54864" cy="1316736"/>
          </a:xfrm>
          <a:prstGeom prst="rect">
            <a:avLst/>
          </a:prstGeom>
          <a:solidFill>
            <a:srgbClr val="DFB199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68503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B199"/>
                </a:solidFill>
              </a:rPr>
              <a:t>Q  </a:t>
            </a:r>
            <a:pPr indent="0" marL="0">
              <a:buNone/>
            </a:pPr>
            <a:r>
              <a:rPr lang="en-US" sz="1200" b="1" dirty="0">
                <a:solidFill>
                  <a:srgbClr val="1A2E2C"/>
                </a:solidFill>
              </a:rPr>
              <a:t>使用者個資怎麼保護？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4114800"/>
            <a:ext cx="3886200" cy="0"/>
          </a:xfrm>
          <a:prstGeom prst="line">
            <a:avLst/>
          </a:prstGeom>
          <a:noFill/>
          <a:ln w="6350">
            <a:solidFill>
              <a:srgbClr val="BACFC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4151376"/>
            <a:ext cx="39319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9896"/>
                </a:solidFill>
              </a:rPr>
              <a:t>A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密碼 bcrypt 雜湊儲存；資料庫使用限權 app user （pnav）而非 root；Render 自帶 HTTPS 加密傳輸；LINE user_id 不對應任何明文個資，僅作 session key。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43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3" name="Shape 1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感謝聴謇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spc="800" kern="0" dirty="0">
                <a:solidFill>
                  <a:srgbClr val="99B6B4"/>
                </a:solidFill>
              </a:rPr>
              <a:t>Q &amp; 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0" y="3337560"/>
            <a:ext cx="4572000" cy="0"/>
          </a:xfrm>
          <a:prstGeom prst="line">
            <a:avLst/>
          </a:prstGeom>
          <a:noFill/>
          <a:ln w="19050">
            <a:solidFill>
              <a:srgbClr val="DFB1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474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9896"/>
                </a:solidFill>
              </a:rPr>
              <a:t>育兒導航全攻略  ·  基於 RAG 與時序提醒之新手爸嫦智慧應援 Agent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931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工研院 AI 應用實務課程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育兒導航全攻略</dc:title>
  <dc:subject>PptxGenJS Presentation</dc:subject>
  <dc:creator>ITRI 課程期末專題</dc:creator>
  <cp:lastModifiedBy>ITRI 課程期末專題</cp:lastModifiedBy>
  <cp:revision>1</cp:revision>
  <dcterms:created xsi:type="dcterms:W3CDTF">2026-06-01T08:34:21Z</dcterms:created>
  <dcterms:modified xsi:type="dcterms:W3CDTF">2026-06-01T08:34:21Z</dcterms:modified>
</cp:coreProperties>
</file>