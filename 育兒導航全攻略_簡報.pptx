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開場白：台灣每年 15~18 萬新生兒，育兒資訊散落於 10+ 個政府部會網站，本專案整合 RAG 問答、主動時序推播、社群論壇三大模組，打造一站式育兒智慧助理。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強調前兩項（資訊分散 + 沒有主動提醒）是最痛點 ★★★★★。核心問題不是資源不足，而是資訊不可得、不可記憶。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三個問題構成完整的使用者旅程：查資料（RAG）→ 被提醒（推播）→ 分享心得（論壇）。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六大功能從資訊查詢延伸到社群與媒合，形成完整育兒服務生態。評分引擎是差異化關鍵：越用越個人化。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三層：使用者（LINE/網頁）→ Vercel Serverless（零運維，12個API）→ Supabase（RDB + pgvector 向量搜尋一體）。CI/CD：GitHub → Vercel 自動部署。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關鍵差異：LLM Wiki 在向量化前多了 YAML 結構化步驟，讓「時序規則」從可搜尋文字升級為可驅動行為的結構化資料，才能做到主動推播——這是純 RAG 做不到的。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亮點：動態權重不使用任何人工固定數字，以當次候選集合的平均值自動計算。行為迴路：用戶點擊某類補助後，下次推薦會給同類更高優先序——越用越個人化。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每個競品只解決了部分問題。我們的差異化：台灣在地化（政府補助）+ AI問答（有依據）+ 主動推播（不等你問）三者的組合，目前市場上無類似產品。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商業化路徑：B2C 訂閱（$99-299/月）→ B2B 托育/月嫂機構付費曝光 → B2G 縣市政府採購官方育兒推播平台。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終極願景：B2G 政府合作讓本平台成為官方育兒資訊推播平台，數據資產（匿名趨勢報告）可授權學術/政策研究，東南亞有類似育兒資訊分散痛點（泰國、越南、印尼）。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0A896">
              <a:alpha val="22000"/>
            </a:srgbClr>
          </a:solidFill>
          <a:ln w="12700">
            <a:solidFill>
              <a:srgbClr val="00A89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594360"/>
            <a:ext cx="2560320" cy="347472"/>
          </a:xfrm>
          <a:prstGeom prst="roundRect">
            <a:avLst>
              <a:gd name="adj" fmla="val 31579"/>
            </a:avLst>
          </a:prstGeom>
          <a:solidFill>
            <a:srgbClr val="02C39A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594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工研院 ITRI · 期末專題 ·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育兒導航全攻略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RAG 與時序提醒之新手爸媽智慧應援 Agent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926080" y="2971800"/>
            <a:ext cx="3291840" cy="0"/>
          </a:xfrm>
          <a:prstGeom prst="line">
            <a:avLst/>
          </a:prstGeom>
          <a:noFill/>
          <a:ln w="12700">
            <a:solidFill>
              <a:srgbClr val="00A896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154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RAG 問答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040" y="3154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時序推播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3154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社群論壇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29400" y="3154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個人化推薦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台灣育兒資訊，為什麼這麼難？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F7F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601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15~18萬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台灣每年新生兒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4408" y="9144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F7F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64408" y="9601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64408" y="14630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需拜訪的政府網站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17336" y="9144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F7F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17336" y="9601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30~60分鐘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17336" y="14630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查一項補助所需時間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96596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E0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659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「台灣的育兒資源不是不夠，而是爸媽找不到、記不住、來不及申請。」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69748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" y="27614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資訊分散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" y="30632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部會各自為政，無整合入口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1208" y="335584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64408" y="269748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74136" y="27614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沒有主動提醒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30632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所有平台都等你去找，不主動通知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74136" y="335584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17336" y="269748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27064" y="27614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亂回答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7064" y="30632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補助金額常出現幻覺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27064" y="335584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79476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1208" y="3858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縣市資訊混雜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" y="41605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台北市≠全國，網路文章常誤導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" y="445312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379476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74136" y="3858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社群孤立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74136" y="41605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申辦心得散在 PTT/Dcard 無法沉澱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74136" y="445312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17336" y="379476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27064" y="38587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 保母媒合零散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27064" y="41605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無正式平台聚合保母/家教資訊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27064" y="445312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三大核心解決方案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" y="960120"/>
            <a:ext cx="2651760" cy="3977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28090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9601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69164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241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查不到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智慧問答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" y="22402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26+ 份政府官方文件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回答附「來源 Wiki 標籤」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縣市自動過濾戶籍地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不確定就說建議致電 1925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6976" y="960120"/>
            <a:ext cx="2651760" cy="3977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0A896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36976" y="9601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6976" y="1691640"/>
            <a:ext cx="26517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10241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錯過了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36976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時序主動推播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74136" y="22402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建檔後自動算全生命週期時程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 09:00 LINE Push 主動通知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支援多寶各自獨立管理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疫苗/補助截止日一律提醒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960120"/>
            <a:ext cx="2651760" cy="3977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2C39A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9601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1691640"/>
            <a:ext cx="26517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0241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沒人問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9904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社群論壇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27064" y="22402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大板塊 Dcard 風格互動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按讚/留言/匿名發文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申辦心得結構化沉澱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論壇 + 保母媒合一站整合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六大核心功能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" y="9601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698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智慧問答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98424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政府文件，cosine 語意搜尋，GPT-4o-mini 回覆附來源標籤，縣市過濾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36976" y="9601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36976" y="10698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28416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主動時序推播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28416" y="198424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建檔後自動計算全生命週期時程，每日 09:00 LINE Push，支援多寶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9601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9904" y="106984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81344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社群論壇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81344" y="198424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大板塊，按讚/留言/匿名，Dcard 風格 UI，熱門排行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9718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30815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" y="3611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個人化補助推薦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99592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動態評分引擎：縣市×月齡×點擊行為，HIGH/MED/LOW 優先級標籤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36976" y="29718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36976" y="30815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👶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328416" y="3611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保母媒合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28416" y="399592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PTT BabyMother 自動爬蟲，可自行刊登，縣市/類型篩選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9904" y="297180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9904" y="30815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81344" y="3611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後台管理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81344" y="399592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管理員儀表板：用戶數/貼文數/知識庫文件數，手動觸發爬蟲更新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0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326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使用者層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749040" y="93268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Bot　　　　　　　　網頁版（parenting-navigator-demo.html）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80560" y="1755648"/>
            <a:ext cx="0" cy="16459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0EE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Vercel Serverless (12 Functions)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49040" y="1920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 (RAG)　/api/forum　/api/recommendations　/api/caregivers　/api/login　/api/admin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743200"/>
            <a:ext cx="0" cy="16459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90779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DFF0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07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Supabase PostgreSQL + pgvector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49040" y="290779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children / forum_posts / caregivers / rag_chunks (vector 1536) / push_schedule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44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38862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4544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Message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8862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42976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544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手機號碼驗證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38862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42976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JWT/bcrypt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4544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認證與安全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密碼雜湊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Wiki × RAG 知識庫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" y="96012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60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784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知識庫建立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7101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 PDF/網頁 → 人工整理 → Markdown（YAML Frontmatter：tags、縣市、時序規則）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9788" y="1380744"/>
            <a:ext cx="0" cy="566928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84048" y="194767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向量化儲存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2585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500字切塊 → text-embedding-3-small（1536維）→ Supabase pgvector HNSW 索引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" y="2368296"/>
            <a:ext cx="0" cy="566928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84048" y="293522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9535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語意搜尋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問題向量化 → cosine 距離取前5段 + Context Enrichment（縣市+月齡）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" y="3355848"/>
            <a:ext cx="0" cy="566928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84048" y="392277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9410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生成回覆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2336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附「來源 Wiki 標籤」，不確定時明確建議致電 1925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960120"/>
            <a:ext cx="2286000" cy="3977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LLM Wiki 優勢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0840" y="1463040"/>
            <a:ext cx="1920240" cy="0"/>
          </a:xfrm>
          <a:prstGeom prst="line">
            <a:avLst/>
          </a:prstGeom>
          <a:noFill/>
          <a:ln w="12700">
            <a:solidFill>
              <a:srgbClr val="E0F7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554480"/>
            <a:ext cx="2148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YAML 時序規則驅動主動推播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縣市 metadata 精準過濾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去除公文廢話，資訊密度高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來源可追溯，不捏造答案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知識與行為解耦——純 ChatGPT 做不到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個人化評分機制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868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計分維度（動態加權）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FAFFF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08176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081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補助價值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benefit_score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0" y="16550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金額換算年化，月領與一次性補助可公平比較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194560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FAFF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04288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年齡符合度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2677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25511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寶寶月齡是否落在政策有效年齡範圍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090672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FAFFFE"/>
          </a:solidFill>
          <a:ln w="12700">
            <a:solidFill>
              <a:srgbClr val="E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E97316"/>
          </a:solidFill>
          <a:ln w="12700">
            <a:solidFill>
              <a:srgbClr val="E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0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截止緊急度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31638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34472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距截止日天數（7天內=100分最高）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40690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69080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5 大過濾條件（不符合直接排除）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縣市 × 就業狀況 × 申請窗口 × 特殊身分 × 胎次加碼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868680"/>
            <a:ext cx="2880360" cy="2331720"/>
          </a:xfrm>
          <a:prstGeom prst="roundRect">
            <a:avLst>
              <a:gd name="adj" fmla="val 3922"/>
            </a:avLst>
          </a:prstGeom>
          <a:solidFill>
            <a:srgbClr val="EFF8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9601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動態權重公式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13716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w₁ = avg_benefit / 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w₂ = avg_eligibility / 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w₃ = avg_urgency / Σ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35040" y="2103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benefit×w₁ + eligibility×w₂ + urgency×w₃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6334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不用固定數字，依候選集合自適應計算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0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優先級分配（百分位）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3749040"/>
            <a:ext cx="685800" cy="347472"/>
          </a:xfrm>
          <a:prstGeom prst="roundRect">
            <a:avLst>
              <a:gd name="adj" fmla="val 18421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7490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380390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20%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4233672"/>
            <a:ext cx="685800" cy="347472"/>
          </a:xfrm>
          <a:prstGeom prst="roundRect">
            <a:avLst>
              <a:gd name="adj" fmla="val 18421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42336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0" y="42885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 50%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4718304"/>
            <a:ext cx="685800" cy="347472"/>
          </a:xfrm>
          <a:prstGeom prst="roundRect">
            <a:avLst>
              <a:gd name="adj" fmla="val 18421"/>
            </a:avLst>
          </a:prstGeom>
          <a:solidFill>
            <a:srgbClr val="F9FAF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47183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0" y="47731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 30%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競品對照分析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5603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914400"/>
            <a:ext cx="10515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914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問答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77640" y="914400"/>
            <a:ext cx="10515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914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主動推播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914400"/>
            <a:ext cx="10515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914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政府補助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914400"/>
            <a:ext cx="10515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914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914400"/>
            <a:ext cx="10515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914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台灣在地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46304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BabyCenter (美)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0" y="146304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77640" y="146304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0" y="146304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80760" y="146304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32320" y="146304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5760" y="2011680"/>
            <a:ext cx="256032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ままリスト (日)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0" y="201168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20116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977640" y="201168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0116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029200" y="201168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0116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80760" y="201168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0116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132320" y="201168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20116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65760" y="256032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560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born.taipei (台北市)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926080" y="256032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2560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977640" y="256032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77640" y="2560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029200" y="256032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2560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080760" y="256032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2560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132320" y="2560320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25603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65760" y="3108960"/>
            <a:ext cx="256032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衛福部官網 (台灣)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926080" y="310896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0" y="31089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3977640" y="310896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77640" y="31089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029200" y="310896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31089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080760" y="310896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31089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7132320" y="3108960"/>
            <a:ext cx="1051560" cy="548640"/>
          </a:xfrm>
          <a:prstGeom prst="rect">
            <a:avLst/>
          </a:prstGeom>
          <a:solidFill>
            <a:srgbClr val="F4FAF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32320" y="31089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365760" y="3657600"/>
            <a:ext cx="25603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8912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育兒導航全攻略 ★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926080" y="3657600"/>
            <a:ext cx="1051560" cy="548640"/>
          </a:xfrm>
          <a:prstGeom prst="rect">
            <a:avLst/>
          </a:prstGeom>
          <a:solidFill>
            <a:srgbClr val="D8F7E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26080" y="36576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3977640" y="3657600"/>
            <a:ext cx="1051560" cy="548640"/>
          </a:xfrm>
          <a:prstGeom prst="rect">
            <a:avLst/>
          </a:prstGeom>
          <a:solidFill>
            <a:srgbClr val="D8F7E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77640" y="36576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029200" y="3657600"/>
            <a:ext cx="1051560" cy="548640"/>
          </a:xfrm>
          <a:prstGeom prst="rect">
            <a:avLst/>
          </a:prstGeom>
          <a:solidFill>
            <a:srgbClr val="D8F7E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0" y="36576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6080760" y="3657600"/>
            <a:ext cx="1051560" cy="548640"/>
          </a:xfrm>
          <a:prstGeom prst="rect">
            <a:avLst/>
          </a:prstGeom>
          <a:solidFill>
            <a:srgbClr val="D8F7E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80760" y="36576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7132320" y="3657600"/>
            <a:ext cx="1051560" cy="548640"/>
          </a:xfrm>
          <a:prstGeom prst="rect">
            <a:avLst/>
          </a:prstGeom>
          <a:solidFill>
            <a:srgbClr val="D8F7EF"/>
          </a:solidFill>
          <a:ln w="12700">
            <a:solidFill>
              <a:srgbClr val="D1EE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0" y="36576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365760" y="42976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0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本平台是目前唯一同時具備  AI問答 + 主動推播 + 台灣全國政府補助 + 社群論壇  的育兒助理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5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商業價值與市場規模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1993392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5156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30,000~60,000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元/年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1975104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每戶因漏領補助估計損失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42032" y="987552"/>
            <a:ext cx="1993392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05156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42032" y="16642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分鐘/年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15184" y="1975104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全台可節省資訊蒐集時間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18304" y="987552"/>
            <a:ext cx="1993392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05156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18304" y="16642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元/年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91456" y="1975104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台灣保母媒合市場規模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94576" y="987552"/>
            <a:ext cx="1993392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105156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15萬+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94576" y="16642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戶/年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67728" y="1975104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每年新增潛在用戶家庭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潛在市場規模（TAM › SAM › SOM）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530352"/>
          </a:xfrm>
          <a:prstGeom prst="roundRect">
            <a:avLst>
              <a:gd name="adj" fmla="val 12069"/>
            </a:avLst>
          </a:prstGeom>
          <a:solidFill>
            <a:srgbClr val="028090"/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0175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TAM：135 億元/年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3017520"/>
            <a:ext cx="5532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90萬育兒家庭 × 15,000元 年均消費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7280" y="3657600"/>
            <a:ext cx="6949440" cy="530352"/>
          </a:xfrm>
          <a:prstGeom prst="roundRect">
            <a:avLst>
              <a:gd name="adj" fmla="val 12069"/>
            </a:avLst>
          </a:prstGeom>
          <a:solidFill>
            <a:srgbClr val="016D7A"/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6576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SAM：80 億元/年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365760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智慧型手機 × LINE 月活 — 約 60% 家庭可服務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0" y="4297680"/>
            <a:ext cx="5486400" cy="530352"/>
          </a:xfrm>
          <a:prstGeom prst="roundRect">
            <a:avLst>
              <a:gd name="adj" fmla="val 12069"/>
            </a:avLst>
          </a:prstGeom>
          <a:solidFill>
            <a:srgbClr val="023E46"/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38528" y="42976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SOM：3,000 萬元/年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4297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台北市雙薪新手爸媽，5% 滲透率 × 年費 $1,200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5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2651760" cy="3977640"/>
          </a:xfrm>
          <a:prstGeom prst="roundRect">
            <a:avLst>
              <a:gd name="adj" fmla="val 4138"/>
            </a:avLst>
          </a:prstGeom>
          <a:solidFill>
            <a:srgbClr val="028090"/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24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3~6 個月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810512"/>
            <a:ext cx="2322576" cy="0"/>
          </a:xfrm>
          <a:prstGeom prst="line">
            <a:avLst/>
          </a:prstGeom>
          <a:noFill/>
          <a:ln w="12700">
            <a:solidFill>
              <a:srgbClr val="02C39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Bot 正式上線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知識庫擴新北/桃園/台中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保母評價系統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論壇熱門排行榜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932688"/>
            <a:ext cx="2651760" cy="3977640"/>
          </a:xfrm>
          <a:prstGeom prst="roundRect">
            <a:avLst>
              <a:gd name="adj" fmla="val 4138"/>
            </a:avLst>
          </a:prstGeom>
          <a:solidFill>
            <a:srgbClr val="028090"/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024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218688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6~18 個月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810512"/>
            <a:ext cx="2322576" cy="0"/>
          </a:xfrm>
          <a:prstGeom prst="line">
            <a:avLst/>
          </a:prstGeom>
          <a:noFill/>
          <a:ln w="12700">
            <a:solidFill>
              <a:srgbClr val="00A89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(iOS/Android)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縣市全覆蓋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機構入駐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語意搜尋保母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932688"/>
            <a:ext cx="2651760" cy="3977640"/>
          </a:xfrm>
          <a:prstGeom prst="roundRect">
            <a:avLst>
              <a:gd name="adj" fmla="val 4138"/>
            </a:avLst>
          </a:prstGeom>
          <a:solidFill>
            <a:srgbClr val="028090"/>
          </a:solidFill>
          <a:ln w="12700">
            <a:solidFill>
              <a:srgbClr val="AEECD4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1024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E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71616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個月以上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6208" y="1810512"/>
            <a:ext cx="2322576" cy="0"/>
          </a:xfrm>
          <a:prstGeom prst="line">
            <a:avLst/>
          </a:prstGeom>
          <a:noFill/>
          <a:ln w="12700">
            <a:solidFill>
              <a:srgbClr val="AEECD4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政府合作採購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育兒行事曆開放 API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匿名趨勢數據授權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東南亞市場擴張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目標：成為台灣官方認可的育兒數位秘書，進而擴展至東南亞 🌏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育兒導航全攻略</dc:title>
  <dc:subject>PptxGenJS Presentation</dc:subject>
  <dc:creator>ITRI 工研院課程期末專題 2026</dc:creator>
  <cp:lastModifiedBy>ITRI 工研院課程期末專題 2026</cp:lastModifiedBy>
  <cp:revision>1</cp:revision>
  <dcterms:created xsi:type="dcterms:W3CDTF">2026-07-02T09:05:12Z</dcterms:created>
  <dcterms:modified xsi:type="dcterms:W3CDTF">2026-07-02T09:05:12Z</dcterms:modified>
</cp:coreProperties>
</file>