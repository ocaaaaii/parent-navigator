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4" name="Text 2"/>
          <p:cNvSpPr/>
          <p:nvPr/>
        </p:nvSpPr>
        <p:spPr>
          <a:xfrm>
            <a:off x="6309360" y="731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🍼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645920" cy="32004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502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32"/>
                </a:solidFill>
              </a:rPr>
              <a:t>工研院 期末專題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育兒導航全攻略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A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 RAG 與時序提醒之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ACF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新手爸媽智慧應援 Agent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5661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 向量知識庫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94560" y="356616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35661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對話狀態機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356616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56616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 Bot 推播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自動爬蟲更新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397764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社群論壇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0" y="3977640"/>
            <a:ext cx="1572768" cy="2926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 部署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5029200" cy="0"/>
          </a:xfrm>
          <a:prstGeom prst="line">
            <a:avLst/>
          </a:prstGeom>
          <a:noFill/>
          <a:ln w="12700">
            <a:solidFill>
              <a:srgbClr val="99B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896"/>
                </a:solidFill>
              </a:rPr>
              <a:t>2025 年度 · AI 應用實務課程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問題背景 — 新手爸媽的困境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😵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資訊散落各部會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828800" cy="0"/>
          </a:xfrm>
          <a:prstGeom prst="line">
            <a:avLst/>
          </a:prstGeom>
          <a:noFill/>
          <a:ln w="12700">
            <a:solidFill>
              <a:srgbClr val="BACF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23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衛福部、教育部、勞動部各自為政，補助資訊難以整合查詢，父母需跨多個官網才能拼湊完整資訊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73152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⏰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時效性錯過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0" y="2331720"/>
            <a:ext cx="1828800" cy="0"/>
          </a:xfrm>
          <a:prstGeom prst="line">
            <a:avLst/>
          </a:prstGeom>
          <a:noFill/>
          <a:ln w="12700">
            <a:solidFill>
              <a:srgbClr val="BACF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423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疫苗接種、補助申辦有嚴格時間限制，新手爸媽常因不知道截止日而白白錯過政府津貼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82296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🗂️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縣市差異大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0" y="2331720"/>
            <a:ext cx="1828800" cy="0"/>
          </a:xfrm>
          <a:prstGeom prst="line">
            <a:avLst/>
          </a:prstGeom>
          <a:noFill/>
          <a:ln w="12700">
            <a:solidFill>
              <a:srgbClr val="BACF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4231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各縣市補助金額與資格各異，全國性查詢結果與實際戶籍縣市不符，造成錯誤期待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3931920"/>
            <a:ext cx="9144000" cy="91440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FB199"/>
                </a:solidFill>
              </a:rPr>
              <a:t>26+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9728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個政府資料來源整合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FB199"/>
                </a:solidFill>
              </a:rPr>
              <a:t>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84048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大縣市深度客製化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FB199"/>
                </a:solidFill>
              </a:rPr>
              <a:t>零等待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58368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主動推播 vs. 被動查詢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解決方案 — 三大核心模組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914400"/>
            <a:ext cx="914400" cy="91440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C"/>
                </a:solidFill>
              </a:rPr>
              <a:t>智慧 RAG 問答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201168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26 份 Wiki 知識庫（政府官方資料）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ChromaDB 向量語意搜尋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縣市 Metadata 精準過濾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21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Context Enrichment 個人化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23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B6B4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GPT-4o-mini 自然語言生成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77724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777240"/>
            <a:ext cx="2743200" cy="54864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DFB199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⏰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9184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C"/>
                </a:solidFill>
              </a:rPr>
              <a:t>主動時序提醒 Agent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566160" y="2423160"/>
            <a:ext cx="201168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對話狀態機蒐集寶寶資料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自動計算疫苗 / 補助時程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APScheduler 每日 09:00 掃描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721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LINE Flex Message 推播通知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123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FB199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MySQL 里程碑記錄 + 追蹤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777240"/>
            <a:ext cx="27432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777240"/>
            <a:ext cx="2743200" cy="54864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914400"/>
            <a:ext cx="914400" cy="914400"/>
          </a:xfrm>
          <a:prstGeom prst="ellipse">
            <a:avLst/>
          </a:prstGeom>
          <a:solidFill>
            <a:srgbClr val="D48982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21792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C"/>
                </a:solidFill>
              </a:rPr>
              <a:t>社群論壇平台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92240" y="2423160"/>
            <a:ext cx="201168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514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5 大板塊分類（Dcard 風格）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帳號系統 + bcrypt 安全登入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匿名發文 / 巢狀留言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3721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按讚排行 + 熱門演算法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4123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82"/>
                </a:solidFill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REST API 與前端整合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B6B4"/>
                </a:solidFill>
              </a:rPr>
              <a:t>系統架構總覽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99B6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14400"/>
            <a:ext cx="1920240" cy="68580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9144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👩 使用者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LINE / 網頁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097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804672"/>
            <a:ext cx="4023360" cy="9144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804672"/>
            <a:ext cx="402336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85953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B6B4"/>
                </a:solidFill>
              </a:rPr>
              <a:t>Flask Backend  ·  LINE Webhook  ·  REST /chat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1965960"/>
            <a:ext cx="2011680" cy="713232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" y="19659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conversation.py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對話狀態機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95728" y="1965960"/>
            <a:ext cx="2011680" cy="713232"/>
          </a:xfrm>
          <a:prstGeom prst="rect">
            <a:avLst/>
          </a:prstGeom>
          <a:solidFill>
            <a:srgbClr val="B8795A"/>
          </a:solidFill>
          <a:ln/>
        </p:spPr>
      </p:sp>
      <p:sp>
        <p:nvSpPr>
          <p:cNvPr id="13" name="Text 11"/>
          <p:cNvSpPr/>
          <p:nvPr/>
        </p:nvSpPr>
        <p:spPr>
          <a:xfrm>
            <a:off x="2395728" y="19659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rag_engine.py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RAG 問答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1965960"/>
            <a:ext cx="2011680" cy="713232"/>
          </a:xfrm>
          <a:prstGeom prst="rect">
            <a:avLst/>
          </a:prstGeom>
          <a:solidFill>
            <a:srgbClr val="C07070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19659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scheduler.py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推播排程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21424" y="1965960"/>
            <a:ext cx="2011680" cy="713232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821424" y="19659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forum.py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論壇 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B6B4"/>
                </a:solidFill>
              </a:rPr>
              <a:t>▼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2560320" cy="96012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54680"/>
            <a:ext cx="2560320" cy="64008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2186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MySQL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users / children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milestones / forum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560320" cy="96012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3" name="Shape 21"/>
          <p:cNvSpPr/>
          <p:nvPr/>
        </p:nvSpPr>
        <p:spPr>
          <a:xfrm>
            <a:off x="3291840" y="3154680"/>
            <a:ext cx="2560320" cy="64008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2186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ChromaDB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向量知識庫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26 個 Wiki 檔案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560320" cy="96012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3154680"/>
            <a:ext cx="2560320" cy="64008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21868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OpenAI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GPT-4o-mini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text-embedding-3-small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1371600"/>
            <a:ext cx="2011680" cy="128016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0" y="1371600"/>
            <a:ext cx="2011680" cy="64008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143560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FB199"/>
                </a:solidFill>
              </a:rPr>
              <a:t>🕷️ 自動爬蟲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FB199"/>
                </a:solidFill>
              </a:rPr>
              <a:t>crawler.py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FB199"/>
                </a:solidFill>
              </a:rPr>
              <a:t>每週一 02:00 更新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94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8982"/>
                </a:solidFill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我們在 LLM 之外做了什麼？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DFB1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3840480" cy="502920"/>
          </a:xfrm>
          <a:prstGeom prst="rect">
            <a:avLst/>
          </a:prstGeom>
          <a:solidFill>
            <a:srgbClr val="C0707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純 ChatGPT / 直接呼叫 LLM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822960"/>
            <a:ext cx="3840480" cy="50292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822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432"/>
                </a:solidFill>
              </a:rPr>
              <a:t>✅  我們的 Agent 系統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81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資料憑空捏造，無法驗證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4813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4813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RAG 知識庫：所有回答有政府文件根據，附來源標籤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60520" y="1600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" y="21671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671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不知道使用者是誰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1671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21671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Context Enrichment：自動拉取戶籍縣市 + 寶寶年齡個人化回覆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286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529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只能被動回答問題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8529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8529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對話狀態機（6 步驟）主動引導用戶完成資料建檔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0520" y="2971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" y="35387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387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資料永遠是訓練截止日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5387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5387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爬蟲每週自動爬 5 個政府網站，知識庫持續即時更新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0520" y="3657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3840480" cy="566928"/>
          </a:xfrm>
          <a:prstGeom prst="rect">
            <a:avLst/>
          </a:prstGeom>
          <a:solidFill>
            <a:srgbClr val="2A1515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2245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4E3"/>
                </a:solidFill>
              </a:rPr>
              <a:t>使用者必須自己記住時程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4224528"/>
            <a:ext cx="3840480" cy="566928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42245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APScheduler 每日主動推播疫苗、補助到期提醒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60520" y="4343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Phase A — Wiki 知識庫建立方法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資料建立流程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" cy="41148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0" cy="484632"/>
          </a:xfrm>
          <a:prstGeom prst="line">
            <a:avLst/>
          </a:prstGeom>
          <a:noFill/>
          <a:ln w="19050">
            <a:solidFill>
              <a:srgbClr val="BACF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161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爬取政府官網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born.taipei / 衛福部 / 國健署 / 勞動部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11480" cy="41148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542032"/>
            <a:ext cx="0" cy="484632"/>
          </a:xfrm>
          <a:prstGeom prst="line">
            <a:avLst/>
          </a:prstGeom>
          <a:noFill/>
          <a:ln w="19050">
            <a:solidFill>
              <a:srgbClr val="BACF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122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結構化整理 Markdown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YAML Frontmatter：tags、適用縣市、時序規則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411480" cy="41148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438144"/>
            <a:ext cx="0" cy="484632"/>
          </a:xfrm>
          <a:prstGeom prst="line">
            <a:avLst/>
          </a:prstGeom>
          <a:noFill/>
          <a:ln w="19050">
            <a:solidFill>
              <a:srgbClr val="BACF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0837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PDF 自動解析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pdfplumber 提取文字，按縣市命名規則分類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411480" cy="41148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044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切塊向量化入庫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2C"/>
                </a:solidFill>
              </a:rPr>
              <a:t>500 字 Chunk → OpenAI Embedding → ChromaDB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知識庫內容分類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34440"/>
            <a:ext cx="54864" cy="59436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25272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全國通用補助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125272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9B6B4"/>
                </a:solidFill>
              </a:rPr>
              <a:t>12 份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196596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965960"/>
            <a:ext cx="54864" cy="59436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98424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台北市專屬資源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23760" y="198424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FB199"/>
                </a:solidFill>
              </a:rPr>
              <a:t>8 份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63440" y="269748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697480"/>
            <a:ext cx="54864" cy="594360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71576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孕期 / 新生兒指南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271576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48982"/>
                </a:solidFill>
              </a:rPr>
              <a:t>3 份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63440" y="342900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429000"/>
            <a:ext cx="54864" cy="59436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44728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托育 / 特教 QA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344728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E9896"/>
                </a:solidFill>
              </a:rPr>
              <a:t>3 份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63440" y="4206240"/>
            <a:ext cx="4114800" cy="68580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42336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CFCE"/>
                </a:solidFill>
              </a:rPr>
              <a:t>每份 .md 的 YAML Frontmatter 同時驅動 APScheduler：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ACFCE"/>
                </a:solidFill>
              </a:rPr>
              <a:t>tags · 適用縣市 · 時序規則 → 自動產生推播里程碑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B6B4"/>
                </a:solidFill>
              </a:rPr>
              <a:t>RAG 問答引擎 — 設計方法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99B6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Wiki .md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+ PDF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知識庫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✂️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8308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切塊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Chunking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500 字/塊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4612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向量化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Embedding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OpenAI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0916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語意搜尋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Top-K Retrieval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ChromaDB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17220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Enrichment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縣市 + 寶寶資料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FB199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914400"/>
            <a:ext cx="1234440" cy="13716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35" name="Shape 33"/>
          <p:cNvSpPr/>
          <p:nvPr/>
        </p:nvSpPr>
        <p:spPr>
          <a:xfrm>
            <a:off x="7589520" y="914400"/>
            <a:ext cx="123444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960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635240" y="16276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LLM 生成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個人化回覆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35240" y="215798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FB199"/>
                </a:solidFill>
              </a:rPr>
              <a:t>GPT-4o-mini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606040"/>
            <a:ext cx="8595360" cy="22860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" y="2606040"/>
            <a:ext cx="54864" cy="228600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2670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FB199"/>
                </a:solidFill>
              </a:rPr>
              <a:t>我們在 RAG 中的工程設計決策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CFCE"/>
                </a:solidFill>
              </a:rPr>
              <a:t>📌  縣市 Metadata 過濾：搜尋時同時比對「目標縣市」與「全國通用」，確保回答不混用其他縣市的補助金額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35478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CFCE"/>
                </a:solidFill>
              </a:rPr>
              <a:t>📌  Context Enrichment：從 MySQL 拉取使用者戶籍縣市與所有寶寶年齡，注入 Prompt，LLM 回答時直接計算剩餘天數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39684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CFCE"/>
                </a:solidFill>
              </a:rPr>
              <a:t>📌  MD5 Hash 去重：爬蟲每次比對舊 hash，只有內容真正變動才觸發重新向量化，避免重複 Embedding 浪費 API 費用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ACFCE"/>
                </a:solidFill>
              </a:rPr>
              <a:t>📌  來源透明化：每次回覆附帶 wiki 來源標籤，使用者可追溯，增加信任度，也利於系統除錯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Agent 設計 — 對話狀態機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234440" cy="1280160"/>
          </a:xfrm>
          <a:prstGeom prst="rect">
            <a:avLst/>
          </a:prstGeom>
          <a:solidFill>
            <a:srgbClr val="6E9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等待觸發詞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「設定寶寶」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37360" y="822960"/>
            <a:ext cx="1234440" cy="1280160"/>
          </a:xfrm>
          <a:prstGeom prst="rect">
            <a:avLst/>
          </a:prstGeom>
          <a:solidFill>
            <a:srgbClr val="99B6B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ASK_CITY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詢問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戶籍縣市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822960"/>
            <a:ext cx="1234440" cy="1280160"/>
          </a:xfrm>
          <a:prstGeom prst="rect">
            <a:avLst/>
          </a:prstGeom>
          <a:solidFill>
            <a:srgbClr val="B879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ASK_NICKNAME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詢問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寶寶暱稱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1234440" cy="1280160"/>
          </a:xfrm>
          <a:prstGeom prst="rect">
            <a:avLst/>
          </a:prstGeom>
          <a:solidFill>
            <a:srgbClr val="DFB19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ASK_BIRTHDATE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詢問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出生日期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822960"/>
            <a:ext cx="1234440" cy="1280160"/>
          </a:xfrm>
          <a:prstGeom prst="rect">
            <a:avLst/>
          </a:prstGeom>
          <a:solidFill>
            <a:srgbClr val="C0707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ASK_GENDER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詢問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性別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9896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589520" y="822960"/>
            <a:ext cx="1234440" cy="1280160"/>
          </a:xfrm>
          <a:prstGeom prst="rect">
            <a:avLst/>
          </a:prstGeom>
          <a:solidFill>
            <a:srgbClr val="99B6B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868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1335024"/>
            <a:ext cx="1051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13716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寫入 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9F8"/>
                </a:solidFill>
              </a:rPr>
              <a:t>產生推播時程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33172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331720"/>
            <a:ext cx="274320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3957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36576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狀態持久化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3493008"/>
            <a:ext cx="219456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56616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每個對話步驟存入 MySQL conversation_state 表，跨連線不遺失，支援中途離開後繼續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0" y="233172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2331720"/>
            <a:ext cx="274320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23957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329184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異常回復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474720" y="3493008"/>
            <a:ext cx="219456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356616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使用者輸入格式錯誤（如生日格式）自動重新詢問，支援多種日期格式解析（民國 / 西元）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26480" y="233172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2331720"/>
            <a:ext cx="274320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23957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621792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自動觸發推播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0" y="3493008"/>
            <a:ext cx="219456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3566160"/>
            <a:ext cx="2523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完成建檔後立即呼叫 generate_push_schedule_for_child()，計算全套疫苗與補助到期日寫入 push_schedule 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主動時序提醒系統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25400">
            <a:solidFill>
              <a:srgbClr val="BACF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490472"/>
            <a:ext cx="228600" cy="22860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B6B4"/>
                </a:solidFill>
              </a:rPr>
              <a:t>出生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B肝第1劑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卡介苗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67712" y="1490472"/>
            <a:ext cx="228600" cy="228600"/>
          </a:xfrm>
          <a:prstGeom prst="ellipse">
            <a:avLst/>
          </a:prstGeom>
          <a:solidFill>
            <a:srgbClr val="DFB199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FB199"/>
                </a:solidFill>
              </a:rPr>
              <a:t>滿2個月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五合一第1劑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2024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PCV13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27889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20240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輪狀病毒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87952" y="1490472"/>
            <a:ext cx="228600" cy="228600"/>
          </a:xfrm>
          <a:prstGeom prst="ellipse">
            <a:avLst/>
          </a:prstGeom>
          <a:solidFill>
            <a:srgbClr val="D4898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8982"/>
                </a:solidFill>
              </a:rPr>
              <a:t>滿4個月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五合一第2劑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輪狀病毒第2劑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8192" y="1490472"/>
            <a:ext cx="228600" cy="22860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B6B4"/>
                </a:solidFill>
              </a:rPr>
              <a:t>滿6個月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6072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五合一第3劑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B型流感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28432" y="1490472"/>
            <a:ext cx="228600" cy="228600"/>
          </a:xfrm>
          <a:prstGeom prst="ellipse">
            <a:avLst/>
          </a:prstGeom>
          <a:solidFill>
            <a:srgbClr val="DFB199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FB199"/>
                </a:solidFill>
              </a:rPr>
              <a:t>滿1歲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80960" y="18745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8096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MMR疫苗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23317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80960" y="2331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水痘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80960" y="2788920"/>
            <a:ext cx="1188720" cy="347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80960" y="2788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2C"/>
                </a:solidFill>
              </a:rPr>
              <a:t>A肝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3977640"/>
            <a:ext cx="9144000" cy="50292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0233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APScheduler 每日 09:00 掃描 MySQL  →  比對今日里程碑  →  LINE Flex Message 推播  →  記錄 sent / failed 狀態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4526280"/>
            <a:ext cx="8595360" cy="438912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55371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B199"/>
                </a:solidFill>
              </a:rPr>
              <a:t>📋  除疫苗外，系統同步追蹤：育兒津貼（0-2 歲）·  托育補助期限  ·  生育獎勵金申辦（多縣市各異）·  育嬰留職停薪到期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知識庫自動維護機制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🕷️  自動爬蟲流程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43584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43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" y="1591056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43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C"/>
                </a:solidFill>
              </a:rPr>
              <a:t>APScheduler 每週一 02:00 觸發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28216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" y="2075688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282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requests 抓取政府網站 HTML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212848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" y="2560320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2128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C"/>
                </a:solidFill>
              </a:rPr>
              <a:t>BeautifulSoup 解析正文，去除導覽雜訊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" y="3044952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697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MD5 hash 比對：只有內容真正變動才更新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182112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" y="3529584"/>
            <a:ext cx="0" cy="137160"/>
          </a:xfrm>
          <a:prstGeom prst="line">
            <a:avLst/>
          </a:prstGeom>
          <a:noFill/>
          <a:ln w="15240">
            <a:solidFill>
              <a:srgbClr val="BACF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182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2C"/>
                </a:solidFill>
              </a:rPr>
              <a:t>自動更新 .md wiki 檔案並記錄 crawl_log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3666744"/>
            <a:ext cx="347472" cy="347472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6667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觸發 wiki_loader 重新向量化寫入 ChromaDB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26280" y="777240"/>
            <a:ext cx="0" cy="411480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📄  PDF 解析方法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3440" y="123444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234440"/>
            <a:ext cx="54864" cy="86868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📁 命名慣例驅動解析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16184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「台北市_親子廁所地圖.pdf」→ 自動解析縣市 = 台北市，標題 = 親子廁所地圖，無需人工標記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63440" y="22402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240280"/>
            <a:ext cx="54864" cy="86868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🔤 pdfplumber 文字提取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26243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逐頁提取純文字，與 Markdown 走相同的切塊 → 向量化 → ChromaDB 入庫流程，兩種格式完全統一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63440" y="32461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246120"/>
            <a:ext cx="54864" cy="868680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⚠️ 掃描型 PDF 自動跳過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0600" y="3630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圖片型 PDF 無法提取文字，系統自動記錄警告 log 並跳過，避免靜默失敗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63440" y="4251960"/>
            <a:ext cx="4206240" cy="59436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42793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監控網站：born.taipei · sfaa.gov.tw · hpa.gov.tw · mohw.gov.tw · tfp.gov.tw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社群論壇 — Dcard 風格平台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572768" cy="54864"/>
          </a:xfrm>
          <a:prstGeom prst="rect">
            <a:avLst/>
          </a:prstGeom>
          <a:solidFill>
            <a:srgbClr val="DFB199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914400"/>
            <a:ext cx="457200" cy="457200"/>
          </a:xfrm>
          <a:prstGeom prst="ellipse">
            <a:avLst/>
          </a:prstGeom>
          <a:solidFill>
            <a:srgbClr val="DFB199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補助討論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申辦心得 / 比較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777240"/>
            <a:ext cx="1572768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9464" y="914400"/>
            <a:ext cx="457200" cy="457200"/>
          </a:xfrm>
          <a:prstGeom prst="ellipse">
            <a:avLst/>
          </a:prstGeom>
          <a:solidFill>
            <a:srgbClr val="99B6B4"/>
          </a:solidFill>
          <a:ln/>
        </p:spPr>
      </p:sp>
      <p:sp>
        <p:nvSpPr>
          <p:cNvPr id="13" name="Text 11"/>
          <p:cNvSpPr/>
          <p:nvPr/>
        </p:nvSpPr>
        <p:spPr>
          <a:xfrm>
            <a:off x="256946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6654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寶寶健康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疫苗 / 健檢 / 發展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777240"/>
            <a:ext cx="1572768" cy="54864"/>
          </a:xfrm>
          <a:prstGeom prst="rect">
            <a:avLst/>
          </a:prstGeom>
          <a:solidFill>
            <a:srgbClr val="BACFCE"/>
          </a:solidFill>
          <a:ln/>
        </p:spPr>
      </p:sp>
      <p:sp>
        <p:nvSpPr>
          <p:cNvPr id="18" name="Shape 16"/>
          <p:cNvSpPr/>
          <p:nvPr/>
        </p:nvSpPr>
        <p:spPr>
          <a:xfrm>
            <a:off x="4306824" y="914400"/>
            <a:ext cx="457200" cy="457200"/>
          </a:xfrm>
          <a:prstGeom prst="ellipse">
            <a:avLst/>
          </a:prstGeom>
          <a:solidFill>
            <a:srgbClr val="BACFCE"/>
          </a:solidFill>
          <a:ln/>
        </p:spPr>
      </p:sp>
      <p:sp>
        <p:nvSpPr>
          <p:cNvPr id="19" name="Text 17"/>
          <p:cNvSpPr/>
          <p:nvPr/>
        </p:nvSpPr>
        <p:spPr>
          <a:xfrm>
            <a:off x="430682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0390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托育分享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0390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公托 / 保母評價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777240"/>
            <a:ext cx="1572768" cy="54864"/>
          </a:xfrm>
          <a:prstGeom prst="rect">
            <a:avLst/>
          </a:prstGeom>
          <a:solidFill>
            <a:srgbClr val="D48982"/>
          </a:solidFill>
          <a:ln/>
        </p:spPr>
      </p:sp>
      <p:sp>
        <p:nvSpPr>
          <p:cNvPr id="24" name="Shape 22"/>
          <p:cNvSpPr/>
          <p:nvPr/>
        </p:nvSpPr>
        <p:spPr>
          <a:xfrm>
            <a:off x="6044184" y="914400"/>
            <a:ext cx="457200" cy="457200"/>
          </a:xfrm>
          <a:prstGeom prst="ellipse">
            <a:avLst/>
          </a:prstGeom>
          <a:solidFill>
            <a:srgbClr val="D48982"/>
          </a:solidFill>
          <a:ln/>
        </p:spPr>
      </p:sp>
      <p:sp>
        <p:nvSpPr>
          <p:cNvPr id="25" name="Text 23"/>
          <p:cNvSpPr/>
          <p:nvPr/>
        </p:nvSpPr>
        <p:spPr>
          <a:xfrm>
            <a:off x="604418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4126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新手問答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4126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什麼都可以問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777240"/>
            <a:ext cx="157276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23760" y="777240"/>
            <a:ext cx="1572768" cy="54864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30" name="Shape 28"/>
          <p:cNvSpPr/>
          <p:nvPr/>
        </p:nvSpPr>
        <p:spPr>
          <a:xfrm>
            <a:off x="7781544" y="914400"/>
            <a:ext cx="457200" cy="457200"/>
          </a:xfrm>
          <a:prstGeom prst="ellipse">
            <a:avLst/>
          </a:prstGeom>
          <a:solidFill>
            <a:srgbClr val="6E9896"/>
          </a:solidFill>
          <a:ln/>
        </p:spPr>
      </p:sp>
      <p:sp>
        <p:nvSpPr>
          <p:cNvPr id="31" name="Text 29"/>
          <p:cNvSpPr/>
          <p:nvPr/>
        </p:nvSpPr>
        <p:spPr>
          <a:xfrm>
            <a:off x="7781544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🌿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78624" y="1463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C"/>
                </a:solidFill>
              </a:rPr>
              <a:t>生活日常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78624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育兒日記 / 親子活動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2C"/>
                </a:solidFill>
              </a:rPr>
              <a:t>系統功能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74320" y="3218688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3218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🔐  帳號系統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bcrypt 密碼雜湊 + Flask Session，login_required decorator 保護寫入路由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218688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32186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📝  發文與留言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發文含標題 / 內文 / 板塊，支援匿名；巢狀留言透過 parent_id 實現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74904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" y="37490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❤️  互動功能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按讚 / 取消切換（Toggle）；熱門貼文依 like×3 + comment×2 + view 加權排序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74904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37490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🗑️  安全刪除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軟刪除（is_deleted = 1），作者本人或 moderator 角色才可刪除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279392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" y="42793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📊  熱門排行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v_hot_posts VIEW 即時計算前 10 篇，前端一鍵切換「最新 / 熱門」排序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4279392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46320" y="42793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9896"/>
                </a:solidFill>
              </a:rPr>
              <a:t>🌐  跨域支援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flask-cors 允許前端 v5.html 直接呼叫 /forum/* API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B6B4"/>
                </a:solidFill>
              </a:rPr>
              <a:t>部署架構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12700">
            <a:solidFill>
              <a:srgbClr val="99B6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14400"/>
            <a:ext cx="2377440" cy="100584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87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🐳 Docker MySQL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parenting_nav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Linux 本地主機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持久化 Volume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2194560"/>
            <a:ext cx="2377440" cy="100584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267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📁 ChromaDB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6334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./chroma_db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向量持久化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(Render Disk)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1828800"/>
          </a:xfrm>
          <a:prstGeom prst="rect">
            <a:avLst/>
          </a:prstGeom>
          <a:solidFill>
            <a:srgbClr val="B8795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53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Render.com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71907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Web 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Docker runtime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Singapore region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gunicorn 2 workers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2286000" cy="914400"/>
          </a:xfrm>
          <a:prstGeom prst="rect">
            <a:avLst/>
          </a:prstGeom>
          <a:solidFill>
            <a:srgbClr val="6E9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987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💬 LINE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3533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Messaging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Webhook + Push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2103120"/>
            <a:ext cx="2286000" cy="91440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176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OpenAI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5420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GPT-4o-mini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Embedding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3200400"/>
            <a:ext cx="2286000" cy="82296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前端 v5.html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36393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靜態 HTML + 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ACFCE"/>
                </a:solidFill>
              </a:rPr>
              <a:t>呼叫 /chat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↔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8932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98932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60604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FB199"/>
                </a:solidFill>
              </a:rPr>
              <a:t>↔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82880" y="4297680"/>
            <a:ext cx="8778240" cy="594360"/>
          </a:xfrm>
          <a:prstGeom prst="rect">
            <a:avLst/>
          </a:prstGeom>
          <a:solidFill>
            <a:srgbClr val="3A5856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CFCE"/>
                </a:solidFill>
              </a:rPr>
              <a:t>Docker MySQL 在本地 Linux 主機  ·  Flask 後端部署 Render.com  ·  LINE Webhook 指向 Render 網址  ·  前端 HTML 靜態托管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434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B6B4"/>
                </a:solidFill>
              </a:rPr>
              <a:t>商業價值與延伸應用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1280160"/>
          </a:xfrm>
          <a:prstGeom prst="rect">
            <a:avLst/>
          </a:prstGeom>
          <a:solidFill>
            <a:srgbClr val="243432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20萬+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台灣每年新生兒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6B4"/>
                </a:solidFill>
              </a:rPr>
              <a:t>目標受眾規模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1965960" cy="1280160"/>
          </a:xfrm>
          <a:prstGeom prst="rect">
            <a:avLst/>
          </a:prstGeom>
          <a:solidFill>
            <a:srgbClr val="243432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868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6縣市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精準客製化資料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6B4"/>
                </a:solidFill>
              </a:rPr>
              <a:t>可快速擴展至全台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777240"/>
            <a:ext cx="1965960" cy="1280160"/>
          </a:xfrm>
          <a:prstGeom prst="rect">
            <a:avLst/>
          </a:prstGeom>
          <a:solidFill>
            <a:srgbClr val="243432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868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26+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知識文件即時更新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6B4"/>
                </a:solidFill>
              </a:rPr>
              <a:t>政府政策異動自動同步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777240"/>
            <a:ext cx="1965960" cy="1280160"/>
          </a:xfrm>
          <a:prstGeom prst="rect">
            <a:avLst/>
          </a:prstGeom>
          <a:solidFill>
            <a:srgbClr val="243432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868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FB199"/>
                </a:solidFill>
              </a:rPr>
              <a:t>零人力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自動推播 + 爬蟲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18288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B6B4"/>
                </a:solidFill>
              </a:rPr>
              <a:t>知識庫無人值守維護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2788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194560"/>
            <a:ext cx="278892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88720" y="2331720"/>
            <a:ext cx="822960" cy="822960"/>
          </a:xfrm>
          <a:prstGeom prst="ellipse">
            <a:avLst/>
          </a:prstGeom>
          <a:solidFill>
            <a:srgbClr val="DDF0EF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5760" y="3246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政府 / 公益應用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694176"/>
            <a:ext cx="214884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49040"/>
            <a:ext cx="2569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接入衛福部、各縣市政府官方 LINE 帳號，作為政策宣達的智慧問答介面，降低客服人力成本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2194560"/>
            <a:ext cx="2788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194560"/>
            <a:ext cx="278892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0" y="2331720"/>
            <a:ext cx="822960" cy="822960"/>
          </a:xfrm>
          <a:prstGeom prst="ellipse">
            <a:avLst/>
          </a:prstGeom>
          <a:solidFill>
            <a:srgbClr val="DDF0EF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291840" y="3246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育兒 App 嵌入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520440" y="3694176"/>
            <a:ext cx="214884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749040"/>
            <a:ext cx="2569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將 RAG + 推播引擎作為 SDK，嵌入現有育兒 App（如 BabyHome、親子天下），快速增加 AI 附加價值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2194560"/>
            <a:ext cx="2788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194560"/>
            <a:ext cx="2788920" cy="54864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6" name="Shape 34"/>
          <p:cNvSpPr/>
          <p:nvPr/>
        </p:nvSpPr>
        <p:spPr>
          <a:xfrm>
            <a:off x="7040880" y="2331720"/>
            <a:ext cx="822960" cy="822960"/>
          </a:xfrm>
          <a:prstGeom prst="ellipse">
            <a:avLst/>
          </a:prstGeom>
          <a:solidFill>
            <a:srgbClr val="DDF0EF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3246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2C"/>
                </a:solidFill>
              </a:rPr>
              <a:t>垂直領域複製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3694176"/>
            <a:ext cx="2148840" cy="0"/>
          </a:xfrm>
          <a:prstGeom prst="line">
            <a:avLst/>
          </a:prstGeom>
          <a:noFill/>
          <a:ln w="9525">
            <a:solidFill>
              <a:srgbClr val="BACF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3749040"/>
            <a:ext cx="25694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相同的架構（RAG + 爬蟲 + 時序推播）可快速複製到長照照護、慢性病管理、學齡兒童教育等領域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3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99B6B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🍼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感謝聆聽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800" kern="0" dirty="0">
                <a:solidFill>
                  <a:srgbClr val="99B6B4"/>
                </a:solidFill>
              </a:rPr>
              <a:t>Q &amp; 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0" y="3566160"/>
            <a:ext cx="4572000" cy="0"/>
          </a:xfrm>
          <a:prstGeom prst="line">
            <a:avLst/>
          </a:prstGeom>
          <a:noFill/>
          <a:ln w="19050">
            <a:solidFill>
              <a:srgbClr val="DFB1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9896"/>
                </a:solidFill>
              </a:rPr>
              <a:t>育兒導航全攻略  ·  基於 RAG 與時序提醒之新手爸媽智慧應援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工研院 AI 應用實務課程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育兒導航全攻略</dc:title>
  <dc:subject>PptxGenJS Presentation</dc:subject>
  <dc:creator>ITRI 課程期末專題</dc:creator>
  <cp:lastModifiedBy>ITRI 課程期末專題</cp:lastModifiedBy>
  <cp:revision>1</cp:revision>
  <dcterms:created xsi:type="dcterms:W3CDTF">2026-06-01T07:38:54Z</dcterms:created>
  <dcterms:modified xsi:type="dcterms:W3CDTF">2026-06-01T07:38:54Z</dcterms:modified>
</cp:coreProperties>
</file>